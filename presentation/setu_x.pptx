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e1209bb2-ee04-fd7a-8642-790496763e0d}">
          <p14:sldIdLst>
            <p14:sldId id="256"/>
          </p14:sldIdLst>
        </p14:section>
        <p14:section name="Gap and system" id="{992d5283-6524-025b-dbaf-c5d002460c1f}">
          <p14:sldIdLst>
            <p14:sldId id="257"/>
          </p14:sldIdLst>
        </p14:section>
        <p14:section name="Method" id="{1445d252-ec72-a591-4fd8-f7d298976890}">
          <p14:sldIdLst>
            <p14:sldId id="258"/>
          </p14:sldIdLst>
        </p14:section>
        <p14:section name="Results" id="{1ebc1604-06da-3596-31a9-9366e6cf81bd}">
          <p14:sldIdLst>
            <p14:sldId id="259"/>
          </p14:sldIdLst>
        </p14:section>
        <p14:section name="Conclusions" id="{e7f13919-98a3-9134-49a4-64c043b6494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B"/>
                </a:solidFill>
                <a:latin typeface="Calibri"/>
              </a:defRPr>
            </a:pPr>
            <a:r>
              <a:rPr sz="1200" b="0" i="0" u="none" strike="noStrike">
                <a:solidFill>
                  <a:srgbClr val="14232B"/>
                </a:solidFill>
                <a:latin typeface="Calibri"/>
              </a:rPr>
              <a:t>H1 · median latency shift vs d = 0 (ms)</a:t>
            </a:r>
          </a:p>
        </c:rich>
      </c:tx>
      <c:layout/>
      <c:overlay val="0"/>
    </c:title>
    <c:autoTitleDeleted val="0"/>
    <c:plotArea>
      <c:layout/>
      <c:barChart>
        <c:barDir val="col"/>
        <c:grouping val="clustered"/>
        <c:varyColors val="0"/>
        <c:ser>
          <c:idx val="0"/>
          <c:order val="0"/>
          <c:tx>
            <c:strRef>
              <c:f>Sheet1!$B$1</c:f>
              <c:strCache>
                <c:ptCount val="1"/>
                <c:pt idx="0">
                  <c:v>configured d</c:v>
                </c:pt>
              </c:strCache>
            </c:strRef>
          </c:tx>
          <c:spPr>
            <a:solidFill>
              <a:srgbClr val="A3AEB4"/>
            </a:solidFill>
            <a:effectLst/>
          </c:spPr>
          <c:invertIfNegative val="0"/>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 = 25 ms</c:v>
                  </c:pt>
                  <c:pt idx="1">
                    <c:v>d = 50 ms</c:v>
                  </c:pt>
                  <c:pt idx="2">
                    <c:v>d = 100 ms</c:v>
                  </c:pt>
                </c:lvl>
              </c:multiLvlStrCache>
            </c:multiLvlStrRef>
          </c:cat>
          <c:val>
            <c:numRef>
              <c:f>Sheet1!$B$2:$B$4</c:f>
              <c:numCache>
                <c:formatCode>General</c:formatCode>
                <c:ptCount val="3"/>
                <c:pt idx="0">
                  <c:v>25</c:v>
                </c:pt>
                <c:pt idx="1">
                  <c:v>50</c:v>
                </c:pt>
                <c:pt idx="2">
                  <c:v>100</c:v>
                </c:pt>
              </c:numCache>
            </c:numRef>
          </c:val>
        </c:ser>
        <c:ser>
          <c:idx val="1"/>
          <c:order val="1"/>
          <c:tx>
            <c:strRef>
              <c:f>Sheet1!$C$1</c:f>
              <c:strCache>
                <c:ptCount val="1"/>
                <c:pt idx="0">
                  <c:v>sequential</c:v>
                </c:pt>
              </c:strCache>
            </c:strRef>
          </c:tx>
          <c:spPr>
            <a:solidFill>
              <a:srgbClr val="1279A0"/>
            </a:solidFill>
            <a:effectLst/>
          </c:spPr>
          <c:invertIfNegative val="0"/>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 = 25 ms</c:v>
                  </c:pt>
                  <c:pt idx="1">
                    <c:v>d = 50 ms</c:v>
                  </c:pt>
                  <c:pt idx="2">
                    <c:v>d = 100 ms</c:v>
                  </c:pt>
                </c:lvl>
              </c:multiLvlStrCache>
            </c:multiLvlStrRef>
          </c:cat>
          <c:val>
            <c:numRef>
              <c:f>Sheet1!$C$2:$C$4</c:f>
              <c:numCache>
                <c:formatCode>General</c:formatCode>
                <c:ptCount val="3"/>
                <c:pt idx="0">
                  <c:v>26.552</c:v>
                </c:pt>
                <c:pt idx="1">
                  <c:v>51.286</c:v>
                </c:pt>
                <c:pt idx="2">
                  <c:v>102.852</c:v>
                </c:pt>
              </c:numCache>
            </c:numRef>
          </c:val>
        </c:ser>
        <c:ser>
          <c:idx val="2"/>
          <c:order val="2"/>
          <c:tx>
            <c:strRef>
              <c:f>Sheet1!$D$1</c:f>
              <c:strCache>
                <c:ptCount val="1"/>
                <c:pt idx="0">
                  <c:v>parallel</c:v>
                </c:pt>
              </c:strCache>
            </c:strRef>
          </c:tx>
          <c:spPr>
            <a:solidFill>
              <a:srgbClr val="D9652B"/>
            </a:solidFill>
            <a:effectLst/>
          </c:spPr>
          <c:invertIfNegative val="0"/>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 = 25 ms</c:v>
                  </c:pt>
                  <c:pt idx="1">
                    <c:v>d = 50 ms</c:v>
                  </c:pt>
                  <c:pt idx="2">
                    <c:v>d = 100 ms</c:v>
                  </c:pt>
                </c:lvl>
              </c:multiLvlStrCache>
            </c:multiLvlStrRef>
          </c:cat>
          <c:val>
            <c:numRef>
              <c:f>Sheet1!$D$2:$D$4</c:f>
              <c:numCache>
                <c:formatCode>General</c:formatCode>
                <c:ptCount val="3"/>
                <c:pt idx="0">
                  <c:v>5.992</c:v>
                </c:pt>
                <c:pt idx="1">
                  <c:v>7.97</c:v>
                </c:pt>
                <c:pt idx="2">
                  <c:v>56.717</c:v>
                </c:pt>
              </c:numCache>
            </c:numRef>
          </c:val>
        </c:ser>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6656D"/>
                </a:solidFill>
                <a:latin typeface="Calibri"/>
              </a:defRPr>
            </a:pPr>
            <a:endParaRPr lang="en-US"/>
          </a:p>
        </c:txPr>
        <c:crossAx val="2094734552"/>
        <c:crosses val="autoZero"/>
        <c:auto val="1"/>
        <c:lblAlgn val="ctr"/>
        <c:noMultiLvlLbl val="1"/>
      </c:catAx>
      <c:valAx>
        <c:axId val="2094734552"/>
        <c:scaling>
          <c:orientation val="minMax"/>
          <c:max val="125"/>
          <c:min val="0"/>
        </c:scaling>
        <c:delete val="0"/>
        <c:axPos val="l"/>
        <c:majorGridlines>
          <c:spPr>
            <a:ln w="9525"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56D"/>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14232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B"/>
                </a:solidFill>
                <a:latin typeface="Calibri"/>
              </a:defRPr>
            </a:pPr>
            <a:r>
              <a:rPr sz="1200" b="0" i="0" u="none" strike="noStrike">
                <a:solidFill>
                  <a:srgbClr val="14232B"/>
                </a:solidFill>
                <a:latin typeface="Calibri"/>
              </a:rPr>
              <a:t>H2 · calls to the hung service (median per run)</a:t>
            </a:r>
          </a:p>
        </c:rich>
      </c:tx>
      <c:layout/>
      <c:overlay val="0"/>
    </c:title>
    <c:autoTitleDeleted val="0"/>
    <c:plotArea>
      <c:layout/>
      <c:barChart>
        <c:barDir val="col"/>
        <c:grouping val="clustered"/>
        <c:varyColors val="0"/>
        <c:ser>
          <c:idx val="0"/>
          <c:order val="0"/>
          <c:tx>
            <c:strRef>
              <c:f>Sheet1!$B$1</c:f>
              <c:strCache>
                <c:ptCount val="1"/>
                <c:pt idx="0">
                  <c:v>calls per run</c:v>
                </c:pt>
              </c:strCache>
            </c:strRef>
          </c:tx>
          <c:spPr>
            <a:solidFill>
              <a:srgbClr val="1279A0"/>
            </a:solidFill>
            <a:effectLst/>
          </c:spPr>
          <c:invertIfNegative val="0"/>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none</c:v>
                  </c:pt>
                  <c:pt idx="1">
                    <c:v>timeout</c:v>
                  </c:pt>
                  <c:pt idx="2">
                    <c:v>+ 2 retries</c:v>
                  </c:pt>
                  <c:pt idx="3">
                    <c:v>+ breaker</c:v>
                  </c:pt>
                </c:lvl>
              </c:multiLvlStrCache>
            </c:multiLvlStrRef>
          </c:cat>
          <c:val>
            <c:numRef>
              <c:f>Sheet1!$B$2:$B$5</c:f>
              <c:numCache>
                <c:formatCode>General</c:formatCode>
                <c:ptCount val="4"/>
                <c:pt idx="0">
                  <c:v>418</c:v>
                </c:pt>
                <c:pt idx="1">
                  <c:v>391</c:v>
                </c:pt>
                <c:pt idx="2">
                  <c:v>816</c:v>
                </c:pt>
                <c:pt idx="3">
                  <c:v>181</c:v>
                </c:pt>
              </c:numCache>
            </c:numRef>
          </c:val>
        </c:ser>
        <c:dLbls>
          <c:numFmt formatCode="0" sourceLinked="0"/>
          <c:txPr>
            <a:bodyPr/>
            <a:lstStyle/>
            <a:p>
              <a:pPr>
                <a:defRPr b="0" i="0" strike="noStrike" sz="1000" u="none">
                  <a:solidFill>
                    <a:srgbClr val="14232B"/>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6656D"/>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9525"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56D"/>
                </a:solidFill>
                <a:latin typeface="Calibri"/>
              </a:defRPr>
            </a:pPr>
            <a:endParaRPr lang="en-US"/>
          </a:p>
        </c:txPr>
        <c:crossAx val="2094734554"/>
        <c:crosses val="autoZero"/>
        <c:crossBetween val="between"/>
        <c:majorUnit val="2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Parv Agarwal, a Junior Research Associate in the AI NLP ML Research Laboratory at IIT Patna. This is SETU-X, a mini-project I built independently. It is not an official IIT Patna project.
When an application's services run in different clouds, every call between them adds delay and one more way to fail. Three findings from the literature show why that matters. With a hundred-way fan-out, if each server is slow just one percent of the time, sixty-three percent of requests end up slow. In a microservice benchmark, mismanaging a single dependency raised tail latency more than ten times. And a single run of an experiment could not reliably detect a ten percent regression, while ten runs could.
So my question is this. When services sit in different, simulated, cloud environments, how do delay, failures and resilience policies such as timeouts, retries, circuit breakers and fallback change latency and success rate? And which of those effects can a small local lab actually establish? I turned this into five hypotheses, H1 to H5.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blocks already exist, but separately. Placement has mostly been studied with models and simulators. Fault-injection tools such as Gremlin and Filibuster are built to find bugs, not to measure trade-offs. Real cloud networks vary, and even network emulators drift from their own settings. And methodology papers show that cloud studies often skip basic rules, such as repeated runs.
SETU-X joins these pieces in one runnable lab. On the right is the real dashboard. A gateway calls an inventory service and a pricing service, each labelled as if it lived on AWS, Google Cloud or Azure, with a second inventory replica for fallback. These are labels on one Docker host, and the gateway injects the configured link delays. There are three modes: local, simulated, and cloud, which stays switched off. The cloud adapters only check configuration, so nothing is created and nothing costs money. Faults are allow-listed, time-limited and expire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only useful if the measurement is honest, so the harness follows published methodology rules. The load is open-loop: requests go out on schedule whether or not earlier ones have finished, so a slow system cannot hide its own slowness. Every run starts from a reset, with a fresh seed, in random order. The run, not the single request, is the unit of replication. Confidence intervals are bootstrapped over runs, and percentiles are never averaged.
I ran the full campaign on my own Windows PC: eight experiments in about sixty-five minutes, with every record validated. The screenshot shows one of those runs in the dashboard. The primary inventory service hangs for ten seconds, yet every request succeeds, because the gateway falls back to the replica. Latency spikes only until the circuit breaker opens.
Behind this sit 337 automated tests, plus end-to-end and browser tests, and an eighteen-check clean-clone verification that passed on Linux and on Windows. The pilot run even caught a timeout bug before the real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All of them are medians over runs, on that one machine.
H1: on a sequential call path, adding d milliseconds of delay added almost exactly d: about 27, 51 and 103 milliseconds for 25, 50 and 100. With parallel calls, most of it was hidden, until the delayed call became the slowest one.
H2: without a timeout, failed requests waited ten seconds. With an 800-millisecond timeout, they failed in about 0.8 seconds. The circuit breaker cut calls to the hung service by 78 percent and failed in 17 milliseconds. But it stayed open after the service recovered, so recovery took about five seconds instead of one.
H3: falling back to the replica in another environment raised success from 74 percent to 100 percent, at the cost of a slower p95.
H4: moving the service on the critical path saved 31 milliseconds. Moving the other one saved nothing measurable.
H5: retries matched the textbook prediction closely, and multiplied the calls as expected.
Finally, at 80 requests per second the gateway ran out of CPU, and throughput collapsed instead of levelling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you take away? First, the critical path decides: delay and placement matter only where they sit on it. Second, every resilience policy trades something. Timeouts trade errors for bounded latency, breakers trade recovery time for less load, and fallback trades latency for success. Third, without admission control, overload causes a collapse, not a plateau.
Just as important is what this lab cannot show. These are not AWS, Azure or Google numbers. Everything ran on one host, with constant injected delay and application-level faults, and both failure domains share one kernel. With three runs per condition, I make no claims about the extreme tail.
The next step is to run the same scenarios on real providers, add jitter and packet-loss models, and try admission control. All the code, data and CI are open on GitHub: Apache 2.0 for the code, and CC BY for the documentation and results.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rtlCol="0"/>
          <a:lstStyle>
            <a:lvl1pPr indent="0" marL="0">
              <a:buNone/>
              <a:defRPr lang="en-US" sz="3200" b="1" dirty="0">
                <a:solidFill>
                  <a:srgbClr val="0F2A36"/>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02920" y="6473952"/>
            <a:ext cx="10637215" cy="256032"/>
          </a:xfrm>
          <a:prstGeom prst="rect">
            <a:avLst/>
          </a:prstGeom>
          <a:noFill/>
          <a:ln/>
        </p:spPr>
        <p:txBody>
          <a:bodyPr wrap="square" lIns="0" tIns="0" rIns="0" bIns="0" rtlCol="0" anchor="ctr"/>
          <a:lstStyle/>
          <a:p>
            <a:pPr indent="0" marL="0">
              <a:buNone/>
            </a:pPr>
            <a:r>
              <a:rPr lang="en-US" sz="1000" dirty="0">
                <a:solidFill>
                  <a:srgbClr val="56656D"/>
                </a:solidFill>
                <a:latin typeface="Calibri" pitchFamily="34" charset="0"/>
                <a:ea typeface="Calibri" pitchFamily="34" charset="-122"/>
                <a:cs typeface="Calibri" pitchFamily="34" charset="-120"/>
              </a:rPr>
              <a:t>SETU-X · Parv Agarwal · github.com/Parv-01/setu-x · results describe one Windows PC; “-simulated” = labels on one Docker host</a:t>
            </a:r>
            <a:endParaRPr lang="en-US" sz="10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6656D"/>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rtlCol="0"/>
          <a:lstStyle>
            <a:lvl1pPr indent="0" marL="0">
              <a:buNone/>
              <a:defRPr lang="en-US" sz="3200" b="1" dirty="0">
                <a:solidFill>
                  <a:srgbClr val="FFFFFF"/>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02920" y="6473952"/>
            <a:ext cx="10637215" cy="256032"/>
          </a:xfrm>
          <a:prstGeom prst="rect">
            <a:avLst/>
          </a:prstGeom>
          <a:noFill/>
          <a:ln/>
        </p:spPr>
        <p:txBody>
          <a:bodyPr wrap="square" lIns="0" tIns="0" rIns="0" bIns="0" rtlCol="0" anchor="ctr"/>
          <a:lstStyle/>
          <a:p>
            <a:pPr indent="0" marL="0">
              <a:buNone/>
            </a:pPr>
            <a:r>
              <a:rPr lang="en-US" sz="1000" dirty="0">
                <a:solidFill>
                  <a:srgbClr val="D5E3E9"/>
                </a:solidFill>
                <a:latin typeface="Calibri" pitchFamily="34" charset="0"/>
                <a:ea typeface="Calibri" pitchFamily="34" charset="-122"/>
                <a:cs typeface="Calibri" pitchFamily="34" charset="-120"/>
              </a:rPr>
              <a:t>SETU-X · Parv Agarwal · github.com/Parv-01/setu-x · results describe one Windows PC; “-simulated” = labels on one Docker host</a:t>
            </a:r>
            <a:endParaRPr lang="en-US" sz="10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D5E3E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6656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1097280"/>
            <a:ext cx="7315200" cy="274320"/>
          </a:xfrm>
          <a:prstGeom prst="rect">
            <a:avLst/>
          </a:prstGeom>
          <a:noFill/>
          <a:ln/>
        </p:spPr>
        <p:txBody>
          <a:bodyPr wrap="square" lIns="0" tIns="0" rIns="0" bIns="0" rtlCol="0" anchor="t"/>
          <a:lstStyle/>
          <a:p>
            <a:pPr indent="0" marL="0">
              <a:buNone/>
            </a:pPr>
            <a:r>
              <a:rPr lang="en-US" sz="1400" b="1" dirty="0">
                <a:solidFill>
                  <a:srgbClr val="F2A262"/>
                </a:solidFill>
                <a:latin typeface="Calibri" pitchFamily="34" charset="0"/>
                <a:ea typeface="Calibri" pitchFamily="34" charset="-122"/>
                <a:cs typeface="Calibri" pitchFamily="34" charset="-120"/>
              </a:rPr>
              <a:t>Hybrid-cloud microservices · experimental platform</a:t>
            </a:r>
            <a:endParaRPr lang="en-US" sz="1400" dirty="0"/>
          </a:p>
        </p:txBody>
      </p:sp>
      <p:sp>
        <p:nvSpPr>
          <p:cNvPr id="3" name="Text 0"/>
          <p:cNvSpPr/>
          <p:nvPr>
            <p:ph idx="100" type="title" hasCustomPrompt="1"/>
          </p:nvPr>
        </p:nvSpPr>
        <p:spPr>
          <a:xfrm>
            <a:off x="502920" y="292608"/>
            <a:ext cx="11185855"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SETU-X</a:t>
            </a:r>
            <a:endParaRPr lang="en-US" sz="3200" dirty="0"/>
          </a:p>
        </p:txBody>
      </p:sp>
      <p:sp>
        <p:nvSpPr>
          <p:cNvPr id="4" name="Text 2"/>
          <p:cNvSpPr txBox="1"/>
          <p:nvPr/>
        </p:nvSpPr>
        <p:spPr>
          <a:xfrm>
            <a:off x="502920" y="1481328"/>
            <a:ext cx="8778240" cy="777240"/>
          </a:xfrm>
          <a:prstGeom prst="rect">
            <a:avLst/>
          </a:prstGeom>
          <a:noFill/>
          <a:ln/>
        </p:spPr>
        <p:txBody>
          <a:bodyPr wrap="square" lIns="0" tIns="0" rIns="0" bIns="0" rtlCol="0" anchor="t"/>
          <a:lstStyle/>
          <a:p>
            <a:pPr indent="0" marL="0">
              <a:buNone/>
            </a:pPr>
            <a:r>
              <a:rPr lang="en-US" sz="2200" dirty="0">
                <a:solidFill>
                  <a:srgbClr val="FFFFFF"/>
                </a:solidFill>
                <a:latin typeface="Cambria" pitchFamily="34" charset="0"/>
                <a:ea typeface="Cambria" pitchFamily="34" charset="-122"/>
                <a:cs typeface="Cambria" pitchFamily="34" charset="-120"/>
              </a:rPr>
              <a:t>How network delay, failures and resilience policies shape latency and availability across (simulated) clouds</a:t>
            </a:r>
            <a:endParaRPr lang="en-US" sz="2200" dirty="0"/>
          </a:p>
        </p:txBody>
      </p:sp>
      <p:sp>
        <p:nvSpPr>
          <p:cNvPr id="5" name="Text 3"/>
          <p:cNvSpPr txBox="1"/>
          <p:nvPr/>
        </p:nvSpPr>
        <p:spPr>
          <a:xfrm>
            <a:off x="502920" y="2395728"/>
            <a:ext cx="11185855" cy="274320"/>
          </a:xfrm>
          <a:prstGeom prst="rect">
            <a:avLst/>
          </a:prstGeom>
          <a:noFill/>
          <a:ln/>
        </p:spPr>
        <p:txBody>
          <a:bodyPr wrap="square" lIns="0" tIns="0" rIns="0" bIns="0" rtlCol="0" anchor="t"/>
          <a:lstStyle/>
          <a:p>
            <a:pPr indent="0" marL="0">
              <a:buNone/>
            </a:pPr>
            <a:r>
              <a:rPr lang="en-US" sz="1400" dirty="0">
                <a:solidFill>
                  <a:srgbClr val="D5E3E9"/>
                </a:solidFill>
                <a:latin typeface="Calibri" pitchFamily="34" charset="0"/>
                <a:ea typeface="Calibri" pitchFamily="34" charset="-122"/>
                <a:cs typeface="Calibri" pitchFamily="34" charset="-120"/>
              </a:rPr>
              <a:t>Parv Agarwal · Junior Research Associate (Technical), AI NLP ML Research Laboratory, IIT Patna · October 2026</a:t>
            </a:r>
            <a:endParaRPr lang="en-US" sz="1400" dirty="0"/>
          </a:p>
        </p:txBody>
      </p:sp>
      <p:sp>
        <p:nvSpPr>
          <p:cNvPr id="6" name="stat-1"/>
          <p:cNvSpPr/>
          <p:nvPr/>
        </p:nvSpPr>
        <p:spPr>
          <a:xfrm>
            <a:off x="502920" y="2880360"/>
            <a:ext cx="3545738" cy="1463040"/>
          </a:xfrm>
          <a:prstGeom prst="roundRect">
            <a:avLst>
              <a:gd name="adj" fmla="val 5000"/>
            </a:avLst>
          </a:prstGeom>
          <a:solidFill>
            <a:srgbClr val="17394A"/>
          </a:solidFill>
          <a:ln w="12700">
            <a:solidFill>
              <a:srgbClr val="17394A"/>
            </a:solidFill>
            <a:prstDash val="solid"/>
          </a:ln>
        </p:spPr>
      </p:sp>
      <p:sp>
        <p:nvSpPr>
          <p:cNvPr id="7" name="Text 5"/>
          <p:cNvSpPr txBox="1"/>
          <p:nvPr/>
        </p:nvSpPr>
        <p:spPr>
          <a:xfrm>
            <a:off x="731520" y="2990088"/>
            <a:ext cx="3088538" cy="640080"/>
          </a:xfrm>
          <a:prstGeom prst="rect">
            <a:avLst/>
          </a:prstGeom>
          <a:noFill/>
          <a:ln/>
        </p:spPr>
        <p:txBody>
          <a:bodyPr wrap="square" lIns="0" tIns="0" rIns="0" bIns="0" rtlCol="0" anchor="t"/>
          <a:lstStyle/>
          <a:p>
            <a:pPr indent="0" marL="0">
              <a:buNone/>
            </a:pPr>
            <a:r>
              <a:rPr lang="en-US" sz="4000" b="1" dirty="0">
                <a:solidFill>
                  <a:srgbClr val="F2A262"/>
                </a:solidFill>
                <a:latin typeface="Cambria" pitchFamily="34" charset="0"/>
                <a:ea typeface="Cambria" pitchFamily="34" charset="-122"/>
                <a:cs typeface="Cambria" pitchFamily="34" charset="-120"/>
              </a:rPr>
              <a:t>63%</a:t>
            </a:r>
            <a:endParaRPr lang="en-US" sz="4000" dirty="0"/>
          </a:p>
        </p:txBody>
      </p:sp>
      <p:sp>
        <p:nvSpPr>
          <p:cNvPr id="8" name="Text 6"/>
          <p:cNvSpPr txBox="1"/>
          <p:nvPr/>
        </p:nvSpPr>
        <p:spPr>
          <a:xfrm>
            <a:off x="731520" y="3639312"/>
            <a:ext cx="3088538"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of requests are slow with 100-way fan-out when each server is slow 1% of the time [1]</a:t>
            </a:r>
            <a:endParaRPr lang="en-US" sz="1400" dirty="0"/>
          </a:p>
        </p:txBody>
      </p:sp>
      <p:sp>
        <p:nvSpPr>
          <p:cNvPr id="9" name="stat-2"/>
          <p:cNvSpPr/>
          <p:nvPr/>
        </p:nvSpPr>
        <p:spPr>
          <a:xfrm>
            <a:off x="4322978" y="2880360"/>
            <a:ext cx="3545738" cy="1463040"/>
          </a:xfrm>
          <a:prstGeom prst="roundRect">
            <a:avLst>
              <a:gd name="adj" fmla="val 5000"/>
            </a:avLst>
          </a:prstGeom>
          <a:solidFill>
            <a:srgbClr val="17394A"/>
          </a:solidFill>
          <a:ln w="12700">
            <a:solidFill>
              <a:srgbClr val="17394A"/>
            </a:solidFill>
            <a:prstDash val="solid"/>
          </a:ln>
        </p:spPr>
      </p:sp>
      <p:sp>
        <p:nvSpPr>
          <p:cNvPr id="10" name="Text 8"/>
          <p:cNvSpPr txBox="1"/>
          <p:nvPr/>
        </p:nvSpPr>
        <p:spPr>
          <a:xfrm>
            <a:off x="4551578" y="2990088"/>
            <a:ext cx="3088538" cy="640080"/>
          </a:xfrm>
          <a:prstGeom prst="rect">
            <a:avLst/>
          </a:prstGeom>
          <a:noFill/>
          <a:ln/>
        </p:spPr>
        <p:txBody>
          <a:bodyPr wrap="square" lIns="0" tIns="0" rIns="0" bIns="0" rtlCol="0" anchor="t"/>
          <a:lstStyle/>
          <a:p>
            <a:pPr indent="0" marL="0">
              <a:buNone/>
            </a:pPr>
            <a:r>
              <a:rPr lang="en-US" sz="4000" b="1" dirty="0">
                <a:solidFill>
                  <a:srgbClr val="F2A262"/>
                </a:solidFill>
                <a:latin typeface="Cambria" pitchFamily="34" charset="0"/>
                <a:ea typeface="Cambria" pitchFamily="34" charset="-122"/>
                <a:cs typeface="Cambria" pitchFamily="34" charset="-120"/>
              </a:rPr>
              <a:t>10.4×</a:t>
            </a:r>
            <a:endParaRPr lang="en-US" sz="4000" dirty="0"/>
          </a:p>
        </p:txBody>
      </p:sp>
      <p:sp>
        <p:nvSpPr>
          <p:cNvPr id="11" name="Text 9"/>
          <p:cNvSpPr txBox="1"/>
          <p:nvPr/>
        </p:nvSpPr>
        <p:spPr>
          <a:xfrm>
            <a:off x="4551578" y="3639312"/>
            <a:ext cx="3088538"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rise in tail latency from mismanaging one dependency in a microservice benchmark [2]</a:t>
            </a:r>
            <a:endParaRPr lang="en-US" sz="1400" dirty="0"/>
          </a:p>
        </p:txBody>
      </p:sp>
      <p:sp>
        <p:nvSpPr>
          <p:cNvPr id="12" name="stat-3"/>
          <p:cNvSpPr/>
          <p:nvPr/>
        </p:nvSpPr>
        <p:spPr>
          <a:xfrm>
            <a:off x="8143037" y="2880360"/>
            <a:ext cx="3545738" cy="1463040"/>
          </a:xfrm>
          <a:prstGeom prst="roundRect">
            <a:avLst>
              <a:gd name="adj" fmla="val 5000"/>
            </a:avLst>
          </a:prstGeom>
          <a:solidFill>
            <a:srgbClr val="17394A"/>
          </a:solidFill>
          <a:ln w="12700">
            <a:solidFill>
              <a:srgbClr val="17394A"/>
            </a:solidFill>
            <a:prstDash val="solid"/>
          </a:ln>
        </p:spPr>
      </p:sp>
      <p:sp>
        <p:nvSpPr>
          <p:cNvPr id="13" name="Text 11"/>
          <p:cNvSpPr txBox="1"/>
          <p:nvPr/>
        </p:nvSpPr>
        <p:spPr>
          <a:xfrm>
            <a:off x="8371637" y="2990088"/>
            <a:ext cx="3088538" cy="640080"/>
          </a:xfrm>
          <a:prstGeom prst="rect">
            <a:avLst/>
          </a:prstGeom>
          <a:noFill/>
          <a:ln/>
        </p:spPr>
        <p:txBody>
          <a:bodyPr wrap="square" lIns="0" tIns="0" rIns="0" bIns="0" rtlCol="0" anchor="t"/>
          <a:lstStyle/>
          <a:p>
            <a:pPr indent="0" marL="0">
              <a:buNone/>
            </a:pPr>
            <a:r>
              <a:rPr lang="en-US" sz="4000" b="1" dirty="0">
                <a:solidFill>
                  <a:srgbClr val="F2A262"/>
                </a:solidFill>
                <a:latin typeface="Cambria" pitchFamily="34" charset="0"/>
                <a:ea typeface="Cambria" pitchFamily="34" charset="-122"/>
                <a:cs typeface="Cambria" pitchFamily="34" charset="-120"/>
              </a:rPr>
              <a:t>10 runs</a:t>
            </a:r>
            <a:endParaRPr lang="en-US" sz="4000" dirty="0"/>
          </a:p>
        </p:txBody>
      </p:sp>
      <p:sp>
        <p:nvSpPr>
          <p:cNvPr id="14" name="Text 12"/>
          <p:cNvSpPr txBox="1"/>
          <p:nvPr/>
        </p:nvSpPr>
        <p:spPr>
          <a:xfrm>
            <a:off x="8371637" y="3639312"/>
            <a:ext cx="3088538"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detected a 10% regression reliably; single runs did not [3]</a:t>
            </a:r>
            <a:endParaRPr lang="en-US" sz="1400" dirty="0"/>
          </a:p>
        </p:txBody>
      </p:sp>
      <p:sp>
        <p:nvSpPr>
          <p:cNvPr id="15" name="Text 13"/>
          <p:cNvSpPr txBox="1"/>
          <p:nvPr/>
        </p:nvSpPr>
        <p:spPr>
          <a:xfrm>
            <a:off x="502920" y="4572000"/>
            <a:ext cx="2743200" cy="274320"/>
          </a:xfrm>
          <a:prstGeom prst="rect">
            <a:avLst/>
          </a:prstGeom>
          <a:noFill/>
          <a:ln/>
        </p:spPr>
        <p:txBody>
          <a:bodyPr wrap="square" lIns="0" tIns="0" rIns="0" bIns="0" rtlCol="0" anchor="t"/>
          <a:lstStyle/>
          <a:p>
            <a:pPr indent="0" marL="0">
              <a:buNone/>
            </a:pPr>
            <a:r>
              <a:rPr lang="en-US" sz="1400" b="1" dirty="0">
                <a:solidFill>
                  <a:srgbClr val="F2A262"/>
                </a:solidFill>
                <a:latin typeface="Calibri" pitchFamily="34" charset="0"/>
                <a:ea typeface="Calibri" pitchFamily="34" charset="-122"/>
                <a:cs typeface="Calibri" pitchFamily="34" charset="-120"/>
              </a:rPr>
              <a:t>Research question</a:t>
            </a:r>
            <a:endParaRPr lang="en-US" sz="1400" dirty="0"/>
          </a:p>
        </p:txBody>
      </p:sp>
      <p:sp>
        <p:nvSpPr>
          <p:cNvPr id="16" name="Text 14"/>
          <p:cNvSpPr txBox="1"/>
          <p:nvPr/>
        </p:nvSpPr>
        <p:spPr>
          <a:xfrm>
            <a:off x="502920" y="4864608"/>
            <a:ext cx="11185855" cy="7772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With services placed in different (simulated) cloud environments, how do inter-environment delay, dependency failures and client-side resilience policies (timeouts, retries, circuit breakers, cross-environment fallback) change end-to-end latency and success rate? Which of these effects can a local lab establish?</a:t>
            </a:r>
            <a:endParaRPr lang="en-US" sz="1600" dirty="0"/>
          </a:p>
        </p:txBody>
      </p:sp>
      <p:sp>
        <p:nvSpPr>
          <p:cNvPr id="17" name="Text 15"/>
          <p:cNvSpPr txBox="1"/>
          <p:nvPr/>
        </p:nvSpPr>
        <p:spPr>
          <a:xfrm>
            <a:off x="502920" y="5760720"/>
            <a:ext cx="11185855" cy="274320"/>
          </a:xfrm>
          <a:prstGeom prst="rect">
            <a:avLst/>
          </a:prstGeom>
          <a:noFill/>
          <a:ln/>
        </p:spPr>
        <p:txBody>
          <a:bodyPr wrap="square" lIns="0" tIns="0" rIns="0" bIns="0" rtlCol="0" anchor="t"/>
          <a:lstStyle/>
          <a:p>
            <a:pPr indent="0" marL="0">
              <a:buNone/>
            </a:pPr>
            <a:r>
              <a:rPr lang="en-US" sz="1400" b="1" dirty="0">
                <a:solidFill>
                  <a:srgbClr val="F2A262"/>
                </a:solidFill>
                <a:latin typeface="Calibri" pitchFamily="34" charset="0"/>
                <a:ea typeface="Calibri" pitchFamily="34" charset="-122"/>
                <a:cs typeface="Calibri" pitchFamily="34" charset="-120"/>
              </a:rPr>
              <a:t>Hypotheses  </a:t>
            </a:r>
            <a:pPr indent="0" marL="0">
              <a:buNone/>
            </a:pPr>
            <a:r>
              <a:rPr lang="en-US" sz="1400" dirty="0">
                <a:solidFill>
                  <a:srgbClr val="D5E3E9"/>
                </a:solidFill>
                <a:latin typeface="Calibri" pitchFamily="34" charset="0"/>
                <a:ea typeface="Calibri" pitchFamily="34" charset="-122"/>
                <a:cs typeface="Calibri" pitchFamily="34" charset="-120"/>
              </a:rPr>
              <a:t>H1 delay propagation · H2 timeouts and breakers · H3 cross-environment fallback · H4 placement · H5 bounded retries</a:t>
            </a:r>
            <a:endParaRPr lang="en-US" sz="1400" dirty="0"/>
          </a:p>
        </p:txBody>
      </p:sp>
      <p:sp>
        <p:nvSpPr>
          <p:cNvPr id="18" name="Text 16"/>
          <p:cNvSpPr txBox="1"/>
          <p:nvPr/>
        </p:nvSpPr>
        <p:spPr>
          <a:xfrm>
            <a:off x="502920" y="6108192"/>
            <a:ext cx="11185855" cy="228600"/>
          </a:xfrm>
          <a:prstGeom prst="rect">
            <a:avLst/>
          </a:prstGeom>
          <a:noFill/>
          <a:ln/>
        </p:spPr>
        <p:txBody>
          <a:bodyPr wrap="square" lIns="0" tIns="0" rIns="0" bIns="0" rtlCol="0" anchor="t"/>
          <a:lstStyle/>
          <a:p>
            <a:pPr indent="0" marL="0">
              <a:buNone/>
            </a:pPr>
            <a:r>
              <a:rPr lang="en-US" sz="1000" i="1" dirty="0">
                <a:solidFill>
                  <a:srgbClr val="D5E3E9"/>
                </a:solidFill>
                <a:latin typeface="Calibri" pitchFamily="34" charset="0"/>
                <a:ea typeface="Calibri" pitchFamily="34" charset="-122"/>
                <a:cs typeface="Calibri" pitchFamily="34" charset="-120"/>
              </a:rPr>
              <a:t>Independent mini-project, not an officially endorsed IIT Patna project.</a:t>
            </a:r>
            <a:endParaRPr lang="en-US" sz="10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D5E3E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lIns="0" tIns="0" rIns="0" bIns="0" rtlCol="0" anchor="ctr"/>
          <a:lstStyle/>
          <a:p>
            <a:pPr indent="0" marL="0">
              <a:buNone/>
            </a:pPr>
            <a:r>
              <a:rPr lang="en-US" sz="3200" b="1" dirty="0">
                <a:solidFill>
                  <a:srgbClr val="0F2A36"/>
                </a:solidFill>
                <a:latin typeface="Cambria" pitchFamily="34" charset="0"/>
                <a:ea typeface="Cambria" pitchFamily="34" charset="-122"/>
                <a:cs typeface="Cambria" pitchFamily="34" charset="-120"/>
              </a:rPr>
              <a:t>Known pieces, joined in one runnable lab</a:t>
            </a:r>
            <a:endParaRPr lang="en-US" sz="3200" dirty="0"/>
          </a:p>
        </p:txBody>
      </p:sp>
      <p:sp>
        <p:nvSpPr>
          <p:cNvPr id="3" name="Text 1"/>
          <p:cNvSpPr txBox="1"/>
          <p:nvPr/>
        </p:nvSpPr>
        <p:spPr>
          <a:xfrm>
            <a:off x="502920" y="1170432"/>
            <a:ext cx="5532120" cy="320040"/>
          </a:xfrm>
          <a:prstGeom prst="rect">
            <a:avLst/>
          </a:prstGeom>
          <a:noFill/>
          <a:ln/>
        </p:spPr>
        <p:txBody>
          <a:bodyPr wrap="square" lIns="0" tIns="0" rIns="0" bIns="0" rtlCol="0" anchor="t"/>
          <a:lstStyle/>
          <a:p>
            <a:pPr indent="0" marL="0">
              <a:buNone/>
            </a:pPr>
            <a:r>
              <a:rPr lang="en-US" sz="1800" b="1" dirty="0">
                <a:solidFill>
                  <a:srgbClr val="1279A0"/>
                </a:solidFill>
                <a:latin typeface="Cambria" pitchFamily="34" charset="0"/>
                <a:ea typeface="Cambria" pitchFamily="34" charset="-122"/>
                <a:cs typeface="Cambria" pitchFamily="34" charset="-120"/>
              </a:rPr>
              <a:t>Research gap: what the papers leave open</a:t>
            </a:r>
            <a:endParaRPr lang="en-US" sz="1800" dirty="0"/>
          </a:p>
        </p:txBody>
      </p:sp>
      <p:sp>
        <p:nvSpPr>
          <p:cNvPr id="4" name="gap-G1"/>
          <p:cNvSpPr/>
          <p:nvPr/>
        </p:nvSpPr>
        <p:spPr>
          <a:xfrm>
            <a:off x="502920" y="1600200"/>
            <a:ext cx="5532120" cy="877824"/>
          </a:xfrm>
          <a:prstGeom prst="roundRect">
            <a:avLst>
              <a:gd name="adj" fmla="val 8333"/>
            </a:avLst>
          </a:prstGeom>
          <a:solidFill>
            <a:srgbClr val="EAF3F6"/>
          </a:solidFill>
          <a:ln w="12700">
            <a:solidFill>
              <a:srgbClr val="EAF3F6"/>
            </a:solidFill>
            <a:prstDash val="solid"/>
          </a:ln>
        </p:spPr>
      </p:sp>
      <p:sp>
        <p:nvSpPr>
          <p:cNvPr id="5" name="Shape 3"/>
          <p:cNvSpPr/>
          <p:nvPr/>
        </p:nvSpPr>
        <p:spPr>
          <a:xfrm>
            <a:off x="667512" y="1847088"/>
            <a:ext cx="384048" cy="384048"/>
          </a:xfrm>
          <a:prstGeom prst="ellipse">
            <a:avLst/>
          </a:prstGeom>
          <a:solidFill>
            <a:srgbClr val="1279A0"/>
          </a:solidFill>
          <a:ln w="12700">
            <a:solidFill>
              <a:srgbClr val="1279A0"/>
            </a:solidFill>
            <a:prstDash val="solid"/>
          </a:ln>
        </p:spPr>
      </p:sp>
      <p:sp>
        <p:nvSpPr>
          <p:cNvPr id="6" name="Text 4"/>
          <p:cNvSpPr txBox="1"/>
          <p:nvPr/>
        </p:nvSpPr>
        <p:spPr>
          <a:xfrm>
            <a:off x="667512" y="1847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7" name="Text 5"/>
          <p:cNvSpPr txBox="1"/>
          <p:nvPr/>
        </p:nvSpPr>
        <p:spPr>
          <a:xfrm>
            <a:off x="1216152" y="1709928"/>
            <a:ext cx="4663440" cy="68580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Placement is studied mostly with models and simulators [4, 5]</a:t>
            </a:r>
            <a:endParaRPr lang="en-US" sz="1400" dirty="0"/>
          </a:p>
          <a:p>
            <a:pPr indent="0" marL="0">
              <a:buNone/>
            </a:pPr>
            <a:r>
              <a:rPr lang="en-US" sz="1400" dirty="0">
                <a:solidFill>
                  <a:srgbClr val="56656D"/>
                </a:solidFill>
                <a:latin typeface="Calibri" pitchFamily="34" charset="0"/>
                <a:ea typeface="Calibri" pitchFamily="34" charset="-122"/>
                <a:cs typeface="Calibri" pitchFamily="34" charset="-120"/>
              </a:rPr>
              <a:t>→ SETU-X measures it on running containers with documented link delays</a:t>
            </a:r>
            <a:endParaRPr lang="en-US" sz="1400" dirty="0"/>
          </a:p>
        </p:txBody>
      </p:sp>
      <p:sp>
        <p:nvSpPr>
          <p:cNvPr id="8" name="gap-G2"/>
          <p:cNvSpPr/>
          <p:nvPr/>
        </p:nvSpPr>
        <p:spPr>
          <a:xfrm>
            <a:off x="502920" y="2587752"/>
            <a:ext cx="5532120" cy="877824"/>
          </a:xfrm>
          <a:prstGeom prst="roundRect">
            <a:avLst>
              <a:gd name="adj" fmla="val 8333"/>
            </a:avLst>
          </a:prstGeom>
          <a:solidFill>
            <a:srgbClr val="EAF3F6"/>
          </a:solidFill>
          <a:ln w="12700">
            <a:solidFill>
              <a:srgbClr val="EAF3F6"/>
            </a:solidFill>
            <a:prstDash val="solid"/>
          </a:ln>
        </p:spPr>
      </p:sp>
      <p:sp>
        <p:nvSpPr>
          <p:cNvPr id="9" name="Shape 7"/>
          <p:cNvSpPr/>
          <p:nvPr/>
        </p:nvSpPr>
        <p:spPr>
          <a:xfrm>
            <a:off x="667512" y="2834640"/>
            <a:ext cx="384048" cy="384048"/>
          </a:xfrm>
          <a:prstGeom prst="ellipse">
            <a:avLst/>
          </a:prstGeom>
          <a:solidFill>
            <a:srgbClr val="1279A0"/>
          </a:solidFill>
          <a:ln w="12700">
            <a:solidFill>
              <a:srgbClr val="1279A0"/>
            </a:solidFill>
            <a:prstDash val="solid"/>
          </a:ln>
        </p:spPr>
      </p:sp>
      <p:sp>
        <p:nvSpPr>
          <p:cNvPr id="10" name="Text 8"/>
          <p:cNvSpPr txBox="1"/>
          <p:nvPr/>
        </p:nvSpPr>
        <p:spPr>
          <a:xfrm>
            <a:off x="667512" y="28346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11" name="Text 9"/>
          <p:cNvSpPr txBox="1"/>
          <p:nvPr/>
        </p:nvSpPr>
        <p:spPr>
          <a:xfrm>
            <a:off x="1216152" y="2697480"/>
            <a:ext cx="4663440" cy="68580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Fault-injection tools find bugs but prescribe no measurement method [6, 7]</a:t>
            </a:r>
            <a:endParaRPr lang="en-US" sz="1400" dirty="0"/>
          </a:p>
          <a:p>
            <a:pPr indent="0" marL="0">
              <a:buNone/>
            </a:pPr>
            <a:r>
              <a:rPr lang="en-US" sz="1400" dirty="0">
                <a:solidFill>
                  <a:srgbClr val="56656D"/>
                </a:solidFill>
                <a:latin typeface="Calibri" pitchFamily="34" charset="0"/>
                <a:ea typeface="Calibri" pitchFamily="34" charset="-122"/>
                <a:cs typeface="Calibri" pitchFamily="34" charset="-120"/>
              </a:rPr>
              <a:t>→ SETU-X couples injection with run-level replication</a:t>
            </a:r>
            <a:endParaRPr lang="en-US" sz="1400" dirty="0"/>
          </a:p>
        </p:txBody>
      </p:sp>
      <p:sp>
        <p:nvSpPr>
          <p:cNvPr id="12" name="gap-G3"/>
          <p:cNvSpPr/>
          <p:nvPr/>
        </p:nvSpPr>
        <p:spPr>
          <a:xfrm>
            <a:off x="502920" y="3575304"/>
            <a:ext cx="5532120" cy="877824"/>
          </a:xfrm>
          <a:prstGeom prst="roundRect">
            <a:avLst>
              <a:gd name="adj" fmla="val 8333"/>
            </a:avLst>
          </a:prstGeom>
          <a:solidFill>
            <a:srgbClr val="EAF3F6"/>
          </a:solidFill>
          <a:ln w="12700">
            <a:solidFill>
              <a:srgbClr val="EAF3F6"/>
            </a:solidFill>
            <a:prstDash val="solid"/>
          </a:ln>
        </p:spPr>
      </p:sp>
      <p:sp>
        <p:nvSpPr>
          <p:cNvPr id="13" name="Shape 11"/>
          <p:cNvSpPr/>
          <p:nvPr/>
        </p:nvSpPr>
        <p:spPr>
          <a:xfrm>
            <a:off x="667512" y="3822192"/>
            <a:ext cx="384048" cy="384048"/>
          </a:xfrm>
          <a:prstGeom prst="ellipse">
            <a:avLst/>
          </a:prstGeom>
          <a:solidFill>
            <a:srgbClr val="1279A0"/>
          </a:solidFill>
          <a:ln w="12700">
            <a:solidFill>
              <a:srgbClr val="1279A0"/>
            </a:solidFill>
            <a:prstDash val="solid"/>
          </a:ln>
        </p:spPr>
      </p:sp>
      <p:sp>
        <p:nvSpPr>
          <p:cNvPr id="14" name="Text 12"/>
          <p:cNvSpPr txBox="1"/>
          <p:nvPr/>
        </p:nvSpPr>
        <p:spPr>
          <a:xfrm>
            <a:off x="667512" y="38221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15" name="Text 13"/>
          <p:cNvSpPr txBox="1"/>
          <p:nvPr/>
        </p:nvSpPr>
        <p:spPr>
          <a:xfrm>
            <a:off x="1216152" y="3685032"/>
            <a:ext cx="4663440" cy="68580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Cloud networks vary; even emulators drift from their settings [8–10]</a:t>
            </a:r>
            <a:endParaRPr lang="en-US" sz="1400" dirty="0"/>
          </a:p>
          <a:p>
            <a:pPr indent="0" marL="0">
              <a:buNone/>
            </a:pPr>
            <a:r>
              <a:rPr lang="en-US" sz="1400" dirty="0">
                <a:solidFill>
                  <a:srgbClr val="56656D"/>
                </a:solidFill>
                <a:latin typeface="Calibri" pitchFamily="34" charset="0"/>
                <a:ea typeface="Calibri" pitchFamily="34" charset="-122"/>
                <a:cs typeface="Calibri" pitchFamily="34" charset="-120"/>
              </a:rPr>
              <a:t>→ Every simulated result carries explicit validity limits</a:t>
            </a:r>
            <a:endParaRPr lang="en-US" sz="1400" dirty="0"/>
          </a:p>
        </p:txBody>
      </p:sp>
      <p:sp>
        <p:nvSpPr>
          <p:cNvPr id="16" name="gap-G4"/>
          <p:cNvSpPr/>
          <p:nvPr/>
        </p:nvSpPr>
        <p:spPr>
          <a:xfrm>
            <a:off x="502920" y="4562856"/>
            <a:ext cx="5532120" cy="877824"/>
          </a:xfrm>
          <a:prstGeom prst="roundRect">
            <a:avLst>
              <a:gd name="adj" fmla="val 8333"/>
            </a:avLst>
          </a:prstGeom>
          <a:solidFill>
            <a:srgbClr val="EAF3F6"/>
          </a:solidFill>
          <a:ln w="12700">
            <a:solidFill>
              <a:srgbClr val="EAF3F6"/>
            </a:solidFill>
            <a:prstDash val="solid"/>
          </a:ln>
        </p:spPr>
      </p:sp>
      <p:sp>
        <p:nvSpPr>
          <p:cNvPr id="17" name="Shape 15"/>
          <p:cNvSpPr/>
          <p:nvPr/>
        </p:nvSpPr>
        <p:spPr>
          <a:xfrm>
            <a:off x="667512" y="4809744"/>
            <a:ext cx="384048" cy="384048"/>
          </a:xfrm>
          <a:prstGeom prst="ellipse">
            <a:avLst/>
          </a:prstGeom>
          <a:solidFill>
            <a:srgbClr val="1279A0"/>
          </a:solidFill>
          <a:ln w="12700">
            <a:solidFill>
              <a:srgbClr val="1279A0"/>
            </a:solidFill>
            <a:prstDash val="solid"/>
          </a:ln>
        </p:spPr>
      </p:sp>
      <p:sp>
        <p:nvSpPr>
          <p:cNvPr id="18" name="Text 16"/>
          <p:cNvSpPr txBox="1"/>
          <p:nvPr/>
        </p:nvSpPr>
        <p:spPr>
          <a:xfrm>
            <a:off x="667512" y="4809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19" name="Text 17"/>
          <p:cNvSpPr txBox="1"/>
          <p:nvPr/>
        </p:nvSpPr>
        <p:spPr>
          <a:xfrm>
            <a:off x="1216152" y="4672584"/>
            <a:ext cx="4663440" cy="685800"/>
          </a:xfrm>
          <a:prstGeom prst="rect">
            <a:avLst/>
          </a:prstGeom>
          <a:noFill/>
          <a:ln/>
        </p:spPr>
        <p:txBody>
          <a:bodyPr wrap="square" lIns="0" tIns="0" rIns="0" bIns="0" rtlCol="0" anchor="ctr"/>
          <a:lstStyle/>
          <a:p>
            <a:pPr indent="0" marL="0">
              <a:buNone/>
            </a:pPr>
            <a:r>
              <a:rPr lang="en-US" sz="1400" b="1" dirty="0">
                <a:solidFill>
                  <a:srgbClr val="14232B"/>
                </a:solidFill>
                <a:latin typeface="Calibri" pitchFamily="34" charset="0"/>
                <a:ea typeface="Calibri" pitchFamily="34" charset="-122"/>
                <a:cs typeface="Calibri" pitchFamily="34" charset="-120"/>
              </a:rPr>
              <a:t>Methodology principles often go unmet in cloud studies [3, 11, 12]</a:t>
            </a:r>
            <a:endParaRPr lang="en-US" sz="1400" dirty="0"/>
          </a:p>
          <a:p>
            <a:pPr indent="0" marL="0">
              <a:buNone/>
            </a:pPr>
            <a:r>
              <a:rPr lang="en-US" sz="1400" dirty="0">
                <a:solidFill>
                  <a:srgbClr val="56656D"/>
                </a:solidFill>
                <a:latin typeface="Calibri" pitchFamily="34" charset="0"/>
                <a:ea typeface="Calibri" pitchFamily="34" charset="-122"/>
                <a:cs typeface="Calibri" pitchFamily="34" charset="-120"/>
              </a:rPr>
              <a:t>→ SETU-X builds them in by default</a:t>
            </a:r>
            <a:endParaRPr lang="en-US" sz="1400" dirty="0"/>
          </a:p>
        </p:txBody>
      </p:sp>
      <p:sp>
        <p:nvSpPr>
          <p:cNvPr id="20" name="Text 18"/>
          <p:cNvSpPr txBox="1"/>
          <p:nvPr/>
        </p:nvSpPr>
        <p:spPr>
          <a:xfrm>
            <a:off x="502920" y="5605272"/>
            <a:ext cx="5532120" cy="457200"/>
          </a:xfrm>
          <a:prstGeom prst="rect">
            <a:avLst/>
          </a:prstGeom>
          <a:noFill/>
          <a:ln/>
        </p:spPr>
        <p:txBody>
          <a:bodyPr wrap="square" lIns="0" tIns="0" rIns="0" bIns="0" rtlCol="0" anchor="t"/>
          <a:lstStyle/>
          <a:p>
            <a:pPr indent="0" marL="0">
              <a:buNone/>
            </a:pPr>
            <a:r>
              <a:rPr lang="en-US" sz="1200" i="1" dirty="0">
                <a:solidFill>
                  <a:srgbClr val="56656D"/>
                </a:solidFill>
                <a:latin typeface="Calibri" pitchFamily="34" charset="0"/>
                <a:ea typeface="Calibri" pitchFamily="34" charset="-122"/>
                <a:cs typeface="Calibri" pitchFamily="34" charset="-120"/>
              </a:rPr>
              <a:t>Scope: a gap in accessible, disciplined experiment tooling for teaching and small labs, not a claim of novel systems research.</a:t>
            </a:r>
            <a:endParaRPr lang="en-US" sz="1200" dirty="0"/>
          </a:p>
        </p:txBody>
      </p:sp>
      <p:pic>
        <p:nvPicPr>
          <p:cNvPr id="21" name="Image 0" descr="SETU-X dashboard dependency graph in simulated mode: gateway calls inventory-a (aws-simulated), inventory-b as fallback (gcp-simulated) and pricing (azure-simulated), with configured link delays">    </p:cNvPr>
          <p:cNvPicPr>
            <a:picLocks noChangeAspect="1"/>
          </p:cNvPicPr>
          <p:nvPr/>
        </p:nvPicPr>
        <p:blipFill>
          <a:blip r:embed="rId1"/>
          <a:stretch>
            <a:fillRect/>
          </a:stretch>
        </p:blipFill>
        <p:spPr>
          <a:xfrm>
            <a:off x="6400800" y="1188720"/>
            <a:ext cx="5287975" cy="2782175"/>
          </a:xfrm>
          <a:prstGeom prst="rect">
            <a:avLst/>
          </a:prstGeom>
        </p:spPr>
      </p:pic>
      <p:sp>
        <p:nvSpPr>
          <p:cNvPr id="22" name="Text 19"/>
          <p:cNvSpPr txBox="1"/>
          <p:nvPr/>
        </p:nvSpPr>
        <p:spPr>
          <a:xfrm>
            <a:off x="6400800" y="4025759"/>
            <a:ext cx="5287975" cy="228600"/>
          </a:xfrm>
          <a:prstGeom prst="rect">
            <a:avLst/>
          </a:prstGeom>
          <a:noFill/>
          <a:ln/>
        </p:spPr>
        <p:txBody>
          <a:bodyPr wrap="square" lIns="0" tIns="0" rIns="0" bIns="0" rtlCol="0" anchor="t"/>
          <a:lstStyle/>
          <a:p>
            <a:pPr indent="0" marL="0">
              <a:buNone/>
            </a:pPr>
            <a:r>
              <a:rPr lang="en-US" sz="1000" dirty="0">
                <a:solidFill>
                  <a:srgbClr val="56656D"/>
                </a:solidFill>
                <a:latin typeface="Calibri" pitchFamily="34" charset="0"/>
                <a:ea typeface="Calibri" pitchFamily="34" charset="-122"/>
                <a:cs typeface="Calibri" pitchFamily="34" charset="-120"/>
              </a:rPr>
              <a:t>Genuine capture: SETU-X dashboard, simulated mode (Linux build workspace, 26 Oct 2026); controller and runner not drawn.</a:t>
            </a:r>
            <a:endParaRPr lang="en-US" sz="1000" dirty="0"/>
          </a:p>
        </p:txBody>
      </p:sp>
      <p:sp>
        <p:nvSpPr>
          <p:cNvPr id="23" name="mode-local"/>
          <p:cNvSpPr/>
          <p:nvPr/>
        </p:nvSpPr>
        <p:spPr>
          <a:xfrm>
            <a:off x="6400800" y="4382375"/>
            <a:ext cx="1640738" cy="777240"/>
          </a:xfrm>
          <a:prstGeom prst="roundRect">
            <a:avLst>
              <a:gd name="adj" fmla="val 9412"/>
            </a:avLst>
          </a:prstGeom>
          <a:solidFill>
            <a:srgbClr val="EAF3F6"/>
          </a:solidFill>
          <a:ln w="12700">
            <a:solidFill>
              <a:srgbClr val="EAF3F6"/>
            </a:solidFill>
            <a:prstDash val="solid"/>
          </a:ln>
        </p:spPr>
      </p:sp>
      <p:sp>
        <p:nvSpPr>
          <p:cNvPr id="24" name="Text 21"/>
          <p:cNvSpPr txBox="1"/>
          <p:nvPr/>
        </p:nvSpPr>
        <p:spPr>
          <a:xfrm>
            <a:off x="6537960" y="4455527"/>
            <a:ext cx="1366418" cy="658368"/>
          </a:xfrm>
          <a:prstGeom prst="rect">
            <a:avLst/>
          </a:prstGeom>
          <a:noFill/>
          <a:ln/>
        </p:spPr>
        <p:txBody>
          <a:bodyPr wrap="square" lIns="0" tIns="0" rIns="0" bIns="0" rtlCol="0" anchor="t"/>
          <a:lstStyle/>
          <a:p>
            <a:pPr indent="0" marL="0">
              <a:buNone/>
            </a:pPr>
            <a:r>
              <a:rPr lang="en-US" sz="1500" b="1" dirty="0">
                <a:solidFill>
                  <a:srgbClr val="14232B"/>
                </a:solidFill>
                <a:latin typeface="Calibri" pitchFamily="34" charset="0"/>
                <a:ea typeface="Calibri" pitchFamily="34" charset="-122"/>
                <a:cs typeface="Calibri" pitchFamily="34" charset="-120"/>
              </a:rPr>
              <a:t>local</a:t>
            </a:r>
            <a:endParaRPr lang="en-US" sz="1500" dirty="0"/>
          </a:p>
          <a:p>
            <a:pPr indent="0" marL="0">
              <a:buNone/>
            </a:pPr>
            <a:r>
              <a:rPr lang="en-US" sz="1200" dirty="0">
                <a:solidFill>
                  <a:srgbClr val="14232B"/>
                </a:solidFill>
                <a:latin typeface="Calibri" pitchFamily="34" charset="0"/>
                <a:ea typeface="Calibri" pitchFamily="34" charset="-122"/>
                <a:cs typeface="Calibri" pitchFamily="34" charset="-120"/>
              </a:rPr>
              <a:t>default; no injected delay</a:t>
            </a:r>
            <a:endParaRPr lang="en-US" sz="1500" dirty="0"/>
          </a:p>
        </p:txBody>
      </p:sp>
      <p:sp>
        <p:nvSpPr>
          <p:cNvPr id="25" name="mode-simulated"/>
          <p:cNvSpPr/>
          <p:nvPr/>
        </p:nvSpPr>
        <p:spPr>
          <a:xfrm>
            <a:off x="8224418" y="4382375"/>
            <a:ext cx="1640738" cy="777240"/>
          </a:xfrm>
          <a:prstGeom prst="roundRect">
            <a:avLst>
              <a:gd name="adj" fmla="val 9412"/>
            </a:avLst>
          </a:prstGeom>
          <a:solidFill>
            <a:srgbClr val="1279A0"/>
          </a:solidFill>
          <a:ln w="12700">
            <a:solidFill>
              <a:srgbClr val="1279A0"/>
            </a:solidFill>
            <a:prstDash val="solid"/>
          </a:ln>
        </p:spPr>
      </p:sp>
      <p:sp>
        <p:nvSpPr>
          <p:cNvPr id="26" name="Text 23"/>
          <p:cNvSpPr txBox="1"/>
          <p:nvPr/>
        </p:nvSpPr>
        <p:spPr>
          <a:xfrm>
            <a:off x="8361578" y="4455527"/>
            <a:ext cx="1366418"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simulated</a:t>
            </a:r>
            <a:endParaRPr lang="en-US" sz="1500" dirty="0"/>
          </a:p>
          <a:p>
            <a:pPr indent="0" marL="0">
              <a:buNone/>
            </a:pPr>
            <a:r>
              <a:rPr lang="en-US" sz="1200" dirty="0">
                <a:solidFill>
                  <a:srgbClr val="FFFFFF"/>
                </a:solidFill>
                <a:latin typeface="Calibri" pitchFamily="34" charset="0"/>
                <a:ea typeface="Calibri" pitchFamily="34" charset="-122"/>
                <a:cs typeface="Calibri" pitchFamily="34" charset="-120"/>
              </a:rPr>
              <a:t>environment labels + injected link delay</a:t>
            </a:r>
            <a:endParaRPr lang="en-US" sz="1500" dirty="0"/>
          </a:p>
        </p:txBody>
      </p:sp>
      <p:sp>
        <p:nvSpPr>
          <p:cNvPr id="27" name="mode-cloud"/>
          <p:cNvSpPr/>
          <p:nvPr/>
        </p:nvSpPr>
        <p:spPr>
          <a:xfrm>
            <a:off x="10048037" y="4382375"/>
            <a:ext cx="1640738" cy="777240"/>
          </a:xfrm>
          <a:prstGeom prst="roundRect">
            <a:avLst>
              <a:gd name="adj" fmla="val 9412"/>
            </a:avLst>
          </a:prstGeom>
          <a:solidFill>
            <a:srgbClr val="EAF3F6"/>
          </a:solidFill>
          <a:ln w="12700">
            <a:solidFill>
              <a:srgbClr val="EAF3F6"/>
            </a:solidFill>
            <a:prstDash val="solid"/>
          </a:ln>
        </p:spPr>
      </p:sp>
      <p:sp>
        <p:nvSpPr>
          <p:cNvPr id="28" name="Text 25"/>
          <p:cNvSpPr txBox="1"/>
          <p:nvPr/>
        </p:nvSpPr>
        <p:spPr>
          <a:xfrm>
            <a:off x="10185197" y="4455527"/>
            <a:ext cx="1366418" cy="658368"/>
          </a:xfrm>
          <a:prstGeom prst="rect">
            <a:avLst/>
          </a:prstGeom>
          <a:noFill/>
          <a:ln/>
        </p:spPr>
        <p:txBody>
          <a:bodyPr wrap="square" lIns="0" tIns="0" rIns="0" bIns="0" rtlCol="0" anchor="t"/>
          <a:lstStyle/>
          <a:p>
            <a:pPr indent="0" marL="0">
              <a:buNone/>
            </a:pPr>
            <a:r>
              <a:rPr lang="en-US" sz="1500" b="1" dirty="0">
                <a:solidFill>
                  <a:srgbClr val="14232B"/>
                </a:solidFill>
                <a:latin typeface="Calibri" pitchFamily="34" charset="0"/>
                <a:ea typeface="Calibri" pitchFamily="34" charset="-122"/>
                <a:cs typeface="Calibri" pitchFamily="34" charset="-120"/>
              </a:rPr>
              <a:t>cloud</a:t>
            </a:r>
            <a:endParaRPr lang="en-US" sz="1500" dirty="0"/>
          </a:p>
          <a:p>
            <a:pPr indent="0" marL="0">
              <a:buNone/>
            </a:pPr>
            <a:r>
              <a:rPr lang="en-US" sz="1200" dirty="0">
                <a:solidFill>
                  <a:srgbClr val="14232B"/>
                </a:solidFill>
                <a:latin typeface="Calibri" pitchFamily="34" charset="0"/>
                <a:ea typeface="Calibri" pitchFamily="34" charset="-122"/>
                <a:cs typeface="Calibri" pitchFamily="34" charset="-120"/>
              </a:rPr>
              <a:t>off; adapters only validate configuration</a:t>
            </a:r>
            <a:endParaRPr lang="en-US" sz="1500" dirty="0"/>
          </a:p>
        </p:txBody>
      </p:sp>
      <p:sp>
        <p:nvSpPr>
          <p:cNvPr id="29" name="Text 26"/>
          <p:cNvSpPr txBox="1"/>
          <p:nvPr/>
        </p:nvSpPr>
        <p:spPr>
          <a:xfrm>
            <a:off x="6400800" y="5278487"/>
            <a:ext cx="5287975" cy="868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4232B"/>
                </a:solidFill>
                <a:latin typeface="Calibri" pitchFamily="34" charset="0"/>
                <a:ea typeface="Calibri" pitchFamily="34" charset="-122"/>
                <a:cs typeface="Calibri" pitchFamily="34" charset="-120"/>
              </a:rPr>
              <a:t>Safety: faults allow-listed, time-bounded, self-expiring; non-root containers on 127.0.0.1</a:t>
            </a:r>
            <a:endParaRPr lang="en-US" sz="1300" dirty="0"/>
          </a:p>
          <a:p>
            <a:pPr marL="177800" indent="-177800">
              <a:spcAft>
                <a:spcPts val="400"/>
              </a:spcAft>
              <a:buSzPct val="100000"/>
              <a:buChar char="•"/>
            </a:pPr>
            <a:r>
              <a:rPr lang="en-US" sz="1300" dirty="0">
                <a:solidFill>
                  <a:srgbClr val="14232B"/>
                </a:solidFill>
                <a:latin typeface="Calibri" pitchFamily="34" charset="0"/>
                <a:ea typeface="Calibri" pitchFamily="34" charset="-122"/>
                <a:cs typeface="Calibri" pitchFamily="34" charset="-120"/>
              </a:rPr>
              <a:t>Cost: no cloud resources, no spend. Ladder simulated → configured → connected → deployed → verified; all providers: not configured</a:t>
            </a:r>
            <a:endParaRPr lang="en-US" sz="13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6656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lIns="0" tIns="0" rIns="0" bIns="0" rtlCol="0" anchor="ctr"/>
          <a:lstStyle/>
          <a:p>
            <a:pPr indent="0" marL="0">
              <a:buNone/>
            </a:pPr>
            <a:r>
              <a:rPr lang="en-US" sz="3200" b="1" dirty="0">
                <a:solidFill>
                  <a:srgbClr val="0F2A36"/>
                </a:solidFill>
                <a:latin typeface="Cambria" pitchFamily="34" charset="0"/>
                <a:ea typeface="Cambria" pitchFamily="34" charset="-122"/>
                <a:cs typeface="Cambria" pitchFamily="34" charset="-120"/>
              </a:rPr>
              <a:t>Measured per run, checked by automated gates</a:t>
            </a:r>
            <a:endParaRPr lang="en-US" sz="3200" dirty="0"/>
          </a:p>
        </p:txBody>
      </p:sp>
      <p:sp>
        <p:nvSpPr>
          <p:cNvPr id="3" name="Text 1"/>
          <p:cNvSpPr txBox="1"/>
          <p:nvPr/>
        </p:nvSpPr>
        <p:spPr>
          <a:xfrm>
            <a:off x="502920" y="1170432"/>
            <a:ext cx="5989320" cy="320040"/>
          </a:xfrm>
          <a:prstGeom prst="rect">
            <a:avLst/>
          </a:prstGeom>
          <a:noFill/>
          <a:ln/>
        </p:spPr>
        <p:txBody>
          <a:bodyPr wrap="square" lIns="0" tIns="0" rIns="0" bIns="0" rtlCol="0" anchor="t"/>
          <a:lstStyle/>
          <a:p>
            <a:pPr indent="0" marL="0">
              <a:buNone/>
            </a:pPr>
            <a:r>
              <a:rPr lang="en-US" sz="1800" b="1" dirty="0">
                <a:solidFill>
                  <a:srgbClr val="1279A0"/>
                </a:solidFill>
                <a:latin typeface="Cambria" pitchFamily="34" charset="0"/>
                <a:ea typeface="Cambria" pitchFamily="34" charset="-122"/>
                <a:cs typeface="Cambria" pitchFamily="34" charset="-120"/>
              </a:rPr>
              <a:t>How the campaign was run</a:t>
            </a:r>
            <a:endParaRPr lang="en-US" sz="1800" dirty="0"/>
          </a:p>
        </p:txBody>
      </p:sp>
      <p:sp>
        <p:nvSpPr>
          <p:cNvPr id="4" name="Text 2"/>
          <p:cNvSpPr txBox="1"/>
          <p:nvPr/>
        </p:nvSpPr>
        <p:spPr>
          <a:xfrm>
            <a:off x="502920" y="1554480"/>
            <a:ext cx="5989320" cy="2240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4232B"/>
                </a:solidFill>
                <a:latin typeface="Calibri" pitchFamily="34" charset="0"/>
                <a:ea typeface="Calibri" pitchFamily="34" charset="-122"/>
                <a:cs typeface="Calibri" pitchFamily="34" charset="-120"/>
              </a:rPr>
              <a:t>Open-loop Poisson load from inside the Compose network; latency from the scheduled send time</a:t>
            </a:r>
            <a:endParaRPr lang="en-US" sz="1400" dirty="0"/>
          </a:p>
          <a:p>
            <a:pPr marL="177800" indent="-177800">
              <a:spcAft>
                <a:spcPts val="600"/>
              </a:spcAft>
              <a:buSzPct val="100000"/>
              <a:buChar char="•"/>
            </a:pPr>
            <a:r>
              <a:rPr lang="en-US" sz="1400" dirty="0">
                <a:solidFill>
                  <a:srgbClr val="14232B"/>
                </a:solidFill>
                <a:latin typeface="Calibri" pitchFamily="34" charset="0"/>
                <a:ea typeface="Calibri" pitchFamily="34" charset="-122"/>
                <a:cs typeface="Calibri" pitchFamily="34" charset="-120"/>
              </a:rPr>
              <a:t>Every run reset and reseeded; run order randomized</a:t>
            </a:r>
            <a:endParaRPr lang="en-US" sz="1400" dirty="0"/>
          </a:p>
          <a:p>
            <a:pPr marL="177800" indent="-177800">
              <a:spcAft>
                <a:spcPts val="600"/>
              </a:spcAft>
              <a:buSzPct val="100000"/>
              <a:buChar char="•"/>
            </a:pPr>
            <a:r>
              <a:rPr lang="en-US" sz="1400" dirty="0">
                <a:solidFill>
                  <a:srgbClr val="14232B"/>
                </a:solidFill>
                <a:latin typeface="Calibri" pitchFamily="34" charset="0"/>
                <a:ea typeface="Calibri" pitchFamily="34" charset="-122"/>
                <a:cs typeface="Calibri" pitchFamily="34" charset="-120"/>
              </a:rPr>
              <a:t>The run is the unit of replication: 3 runs per condition (5 for the baseline), 95% bootstrap CI over runs</a:t>
            </a:r>
            <a:endParaRPr lang="en-US" sz="1400" dirty="0"/>
          </a:p>
          <a:p>
            <a:pPr marL="177800" indent="-177800">
              <a:spcAft>
                <a:spcPts val="600"/>
              </a:spcAft>
              <a:buSzPct val="100000"/>
              <a:buChar char="•"/>
            </a:pPr>
            <a:r>
              <a:rPr lang="en-US" sz="1400" dirty="0">
                <a:solidFill>
                  <a:srgbClr val="14232B"/>
                </a:solidFill>
                <a:latin typeface="Calibri" pitchFamily="34" charset="0"/>
                <a:ea typeface="Calibri" pitchFamily="34" charset="-122"/>
                <a:cs typeface="Calibri" pitchFamily="34" charset="-120"/>
              </a:rPr>
              <a:t>Percentiles per run only (p95 needs ≥ 200 samples, p99 ≥ 1,000), never averaged</a:t>
            </a:r>
            <a:endParaRPr lang="en-US" sz="1400" dirty="0"/>
          </a:p>
          <a:p>
            <a:pPr marL="177800" indent="-177800">
              <a:spcAft>
                <a:spcPts val="600"/>
              </a:spcAft>
              <a:buSzPct val="100000"/>
              <a:buChar char="•"/>
            </a:pPr>
            <a:r>
              <a:rPr lang="en-US" sz="1400" dirty="0">
                <a:solidFill>
                  <a:srgbClr val="14232B"/>
                </a:solidFill>
                <a:latin typeface="Calibri" pitchFamily="34" charset="0"/>
                <a:ea typeface="Calibri" pitchFamily="34" charset="-122"/>
                <a:cs typeface="Calibri" pitchFamily="34" charset="-120"/>
              </a:rPr>
              <a:t>Raw rows and manifest (scenario hash, git commit) re-validated before any analysis</a:t>
            </a:r>
            <a:endParaRPr lang="en-US" sz="1400" dirty="0"/>
          </a:p>
        </p:txBody>
      </p:sp>
      <p:sp>
        <p:nvSpPr>
          <p:cNvPr id="5" name="campaign"/>
          <p:cNvSpPr/>
          <p:nvPr/>
        </p:nvSpPr>
        <p:spPr>
          <a:xfrm>
            <a:off x="502920" y="3840480"/>
            <a:ext cx="5989320" cy="566928"/>
          </a:xfrm>
          <a:prstGeom prst="roundRect">
            <a:avLst>
              <a:gd name="adj" fmla="val 12903"/>
            </a:avLst>
          </a:prstGeom>
          <a:solidFill>
            <a:srgbClr val="EAF3F6"/>
          </a:solidFill>
          <a:ln w="12700">
            <a:solidFill>
              <a:srgbClr val="EAF3F6"/>
            </a:solidFill>
            <a:prstDash val="solid"/>
          </a:ln>
        </p:spPr>
      </p:sp>
      <p:sp>
        <p:nvSpPr>
          <p:cNvPr id="6" name="Text 4"/>
          <p:cNvSpPr txBox="1"/>
          <p:nvPr/>
        </p:nvSpPr>
        <p:spPr>
          <a:xfrm>
            <a:off x="685800" y="3904488"/>
            <a:ext cx="5623560" cy="457200"/>
          </a:xfrm>
          <a:prstGeom prst="rect">
            <a:avLst/>
          </a:prstGeom>
          <a:noFill/>
          <a:ln/>
        </p:spPr>
        <p:txBody>
          <a:bodyPr wrap="square" lIns="0" tIns="0" rIns="0" bIns="0" rtlCol="0" anchor="ctr"/>
          <a:lstStyle/>
          <a:p>
            <a:pPr indent="0" marL="0">
              <a:buNone/>
            </a:pPr>
            <a:r>
              <a:rPr lang="en-US" sz="1300" b="1" dirty="0">
                <a:solidFill>
                  <a:srgbClr val="14232B"/>
                </a:solidFill>
                <a:latin typeface="Calibri" pitchFamily="34" charset="0"/>
                <a:ea typeface="Calibri" pitchFamily="34" charset="-122"/>
                <a:cs typeface="Calibri" pitchFamily="34" charset="-120"/>
              </a:rPr>
              <a:t>Campaign: 8/8 experiments validated · 64.8 min · one Windows PC (i5-13500, Docker Desktop 29.4.2) · commit bfe122c</a:t>
            </a:r>
            <a:endParaRPr lang="en-US" sz="1300" dirty="0"/>
          </a:p>
        </p:txBody>
      </p:sp>
      <p:sp>
        <p:nvSpPr>
          <p:cNvPr id="7" name="Text 5"/>
          <p:cNvSpPr txBox="1"/>
          <p:nvPr/>
        </p:nvSpPr>
        <p:spPr>
          <a:xfrm>
            <a:off x="502920" y="4572000"/>
            <a:ext cx="5989320" cy="320040"/>
          </a:xfrm>
          <a:prstGeom prst="rect">
            <a:avLst/>
          </a:prstGeom>
          <a:noFill/>
          <a:ln/>
        </p:spPr>
        <p:txBody>
          <a:bodyPr wrap="square" lIns="0" tIns="0" rIns="0" bIns="0" rtlCol="0" anchor="t"/>
          <a:lstStyle/>
          <a:p>
            <a:pPr indent="0" marL="0">
              <a:buNone/>
            </a:pPr>
            <a:r>
              <a:rPr lang="en-US" sz="1800" b="1" dirty="0">
                <a:solidFill>
                  <a:srgbClr val="1279A0"/>
                </a:solidFill>
                <a:latin typeface="Cambria" pitchFamily="34" charset="0"/>
                <a:ea typeface="Cambria" pitchFamily="34" charset="-122"/>
                <a:cs typeface="Cambria" pitchFamily="34" charset="-120"/>
              </a:rPr>
              <a:t>Testing gates</a:t>
            </a:r>
            <a:endParaRPr lang="en-US" sz="1800" dirty="0"/>
          </a:p>
        </p:txBody>
      </p:sp>
      <p:sp>
        <p:nvSpPr>
          <p:cNvPr id="8" name="Text 6"/>
          <p:cNvSpPr txBox="1"/>
          <p:nvPr/>
        </p:nvSpPr>
        <p:spPr>
          <a:xfrm>
            <a:off x="502920" y="4919472"/>
            <a:ext cx="1394460" cy="457200"/>
          </a:xfrm>
          <a:prstGeom prst="rect">
            <a:avLst/>
          </a:prstGeom>
          <a:noFill/>
          <a:ln/>
        </p:spPr>
        <p:txBody>
          <a:bodyPr wrap="square" lIns="0" tIns="0" rIns="0" bIns="0" rtlCol="0" anchor="t"/>
          <a:lstStyle/>
          <a:p>
            <a:pPr indent="0" marL="0">
              <a:buNone/>
            </a:pPr>
            <a:r>
              <a:rPr lang="en-US" sz="2800" b="1" dirty="0">
                <a:solidFill>
                  <a:srgbClr val="D9652B"/>
                </a:solidFill>
                <a:latin typeface="Cambria" pitchFamily="34" charset="0"/>
                <a:ea typeface="Cambria" pitchFamily="34" charset="-122"/>
                <a:cs typeface="Cambria" pitchFamily="34" charset="-120"/>
              </a:rPr>
              <a:t>337</a:t>
            </a:r>
            <a:endParaRPr lang="en-US" sz="2800" dirty="0"/>
          </a:p>
        </p:txBody>
      </p:sp>
      <p:sp>
        <p:nvSpPr>
          <p:cNvPr id="9" name="Text 7"/>
          <p:cNvSpPr txBox="1"/>
          <p:nvPr/>
        </p:nvSpPr>
        <p:spPr>
          <a:xfrm>
            <a:off x="502920" y="5376672"/>
            <a:ext cx="1394460" cy="411480"/>
          </a:xfrm>
          <a:prstGeom prst="rect">
            <a:avLst/>
          </a:prstGeom>
          <a:noFill/>
          <a:ln/>
        </p:spPr>
        <p:txBody>
          <a:bodyPr wrap="square" lIns="0" tIns="0" rIns="0" bIns="0" rtlCol="0" anchor="t"/>
          <a:lstStyle/>
          <a:p>
            <a:pPr indent="0" marL="0">
              <a:buNone/>
            </a:pPr>
            <a:r>
              <a:rPr lang="en-US" sz="1200" dirty="0">
                <a:solidFill>
                  <a:srgbClr val="56656D"/>
                </a:solidFill>
                <a:latin typeface="Calibri" pitchFamily="34" charset="0"/>
                <a:ea typeface="Calibri" pitchFamily="34" charset="-122"/>
                <a:cs typeface="Calibri" pitchFamily="34" charset="-120"/>
              </a:rPr>
              <a:t>unit, contract, integration</a:t>
            </a:r>
            <a:endParaRPr lang="en-US" sz="1200" dirty="0"/>
          </a:p>
        </p:txBody>
      </p:sp>
      <p:sp>
        <p:nvSpPr>
          <p:cNvPr id="10" name="Text 8"/>
          <p:cNvSpPr txBox="1"/>
          <p:nvPr/>
        </p:nvSpPr>
        <p:spPr>
          <a:xfrm>
            <a:off x="2034540" y="4919472"/>
            <a:ext cx="1394460" cy="457200"/>
          </a:xfrm>
          <a:prstGeom prst="rect">
            <a:avLst/>
          </a:prstGeom>
          <a:noFill/>
          <a:ln/>
        </p:spPr>
        <p:txBody>
          <a:bodyPr wrap="square" lIns="0" tIns="0" rIns="0" bIns="0" rtlCol="0" anchor="t"/>
          <a:lstStyle/>
          <a:p>
            <a:pPr indent="0" marL="0">
              <a:buNone/>
            </a:pPr>
            <a:r>
              <a:rPr lang="en-US" sz="2800" b="1" dirty="0">
                <a:solidFill>
                  <a:srgbClr val="D9652B"/>
                </a:solidFill>
                <a:latin typeface="Cambria" pitchFamily="34" charset="0"/>
                <a:ea typeface="Cambria" pitchFamily="34" charset="-122"/>
                <a:cs typeface="Cambria" pitchFamily="34" charset="-120"/>
              </a:rPr>
              <a:t>10</a:t>
            </a:r>
            <a:endParaRPr lang="en-US" sz="2800" dirty="0"/>
          </a:p>
        </p:txBody>
      </p:sp>
      <p:sp>
        <p:nvSpPr>
          <p:cNvPr id="11" name="Text 9"/>
          <p:cNvSpPr txBox="1"/>
          <p:nvPr/>
        </p:nvSpPr>
        <p:spPr>
          <a:xfrm>
            <a:off x="2034540" y="5376672"/>
            <a:ext cx="1394460" cy="411480"/>
          </a:xfrm>
          <a:prstGeom prst="rect">
            <a:avLst/>
          </a:prstGeom>
          <a:noFill/>
          <a:ln/>
        </p:spPr>
        <p:txBody>
          <a:bodyPr wrap="square" lIns="0" tIns="0" rIns="0" bIns="0" rtlCol="0" anchor="t"/>
          <a:lstStyle/>
          <a:p>
            <a:pPr indent="0" marL="0">
              <a:buNone/>
            </a:pPr>
            <a:r>
              <a:rPr lang="en-US" sz="1200" dirty="0">
                <a:solidFill>
                  <a:srgbClr val="56656D"/>
                </a:solidFill>
                <a:latin typeface="Calibri" pitchFamily="34" charset="0"/>
                <a:ea typeface="Calibri" pitchFamily="34" charset="-122"/>
                <a:cs typeface="Calibri" pitchFamily="34" charset="-120"/>
              </a:rPr>
              <a:t>end-to-end</a:t>
            </a:r>
            <a:endParaRPr lang="en-US" sz="1200" dirty="0"/>
          </a:p>
        </p:txBody>
      </p:sp>
      <p:sp>
        <p:nvSpPr>
          <p:cNvPr id="12" name="Text 10"/>
          <p:cNvSpPr txBox="1"/>
          <p:nvPr/>
        </p:nvSpPr>
        <p:spPr>
          <a:xfrm>
            <a:off x="3566160" y="4919472"/>
            <a:ext cx="1394460" cy="457200"/>
          </a:xfrm>
          <a:prstGeom prst="rect">
            <a:avLst/>
          </a:prstGeom>
          <a:noFill/>
          <a:ln/>
        </p:spPr>
        <p:txBody>
          <a:bodyPr wrap="square" lIns="0" tIns="0" rIns="0" bIns="0" rtlCol="0" anchor="t"/>
          <a:lstStyle/>
          <a:p>
            <a:pPr indent="0" marL="0">
              <a:buNone/>
            </a:pPr>
            <a:r>
              <a:rPr lang="en-US" sz="2800" b="1" dirty="0">
                <a:solidFill>
                  <a:srgbClr val="D9652B"/>
                </a:solidFill>
                <a:latin typeface="Cambria" pitchFamily="34" charset="0"/>
                <a:ea typeface="Cambria" pitchFamily="34" charset="-122"/>
                <a:cs typeface="Cambria" pitchFamily="34" charset="-120"/>
              </a:rPr>
              <a:t>13</a:t>
            </a:r>
            <a:endParaRPr lang="en-US" sz="2800" dirty="0"/>
          </a:p>
        </p:txBody>
      </p:sp>
      <p:sp>
        <p:nvSpPr>
          <p:cNvPr id="13" name="Text 11"/>
          <p:cNvSpPr txBox="1"/>
          <p:nvPr/>
        </p:nvSpPr>
        <p:spPr>
          <a:xfrm>
            <a:off x="3566160" y="5376672"/>
            <a:ext cx="1394460" cy="411480"/>
          </a:xfrm>
          <a:prstGeom prst="rect">
            <a:avLst/>
          </a:prstGeom>
          <a:noFill/>
          <a:ln/>
        </p:spPr>
        <p:txBody>
          <a:bodyPr wrap="square" lIns="0" tIns="0" rIns="0" bIns="0" rtlCol="0" anchor="t"/>
          <a:lstStyle/>
          <a:p>
            <a:pPr indent="0" marL="0">
              <a:buNone/>
            </a:pPr>
            <a:r>
              <a:rPr lang="en-US" sz="1200" dirty="0">
                <a:solidFill>
                  <a:srgbClr val="56656D"/>
                </a:solidFill>
                <a:latin typeface="Calibri" pitchFamily="34" charset="0"/>
                <a:ea typeface="Calibri" pitchFamily="34" charset="-122"/>
                <a:cs typeface="Calibri" pitchFamily="34" charset="-120"/>
              </a:rPr>
              <a:t>browser (Playwright)</a:t>
            </a:r>
            <a:endParaRPr lang="en-US" sz="1200" dirty="0"/>
          </a:p>
        </p:txBody>
      </p:sp>
      <p:sp>
        <p:nvSpPr>
          <p:cNvPr id="14" name="Text 12"/>
          <p:cNvSpPr txBox="1"/>
          <p:nvPr/>
        </p:nvSpPr>
        <p:spPr>
          <a:xfrm>
            <a:off x="5097780" y="4919472"/>
            <a:ext cx="1394460" cy="457200"/>
          </a:xfrm>
          <a:prstGeom prst="rect">
            <a:avLst/>
          </a:prstGeom>
          <a:noFill/>
          <a:ln/>
        </p:spPr>
        <p:txBody>
          <a:bodyPr wrap="square" lIns="0" tIns="0" rIns="0" bIns="0" rtlCol="0" anchor="t"/>
          <a:lstStyle/>
          <a:p>
            <a:pPr indent="0" marL="0">
              <a:buNone/>
            </a:pPr>
            <a:r>
              <a:rPr lang="en-US" sz="2800" b="1" dirty="0">
                <a:solidFill>
                  <a:srgbClr val="D9652B"/>
                </a:solidFill>
                <a:latin typeface="Cambria" pitchFamily="34" charset="0"/>
                <a:ea typeface="Cambria" pitchFamily="34" charset="-122"/>
                <a:cs typeface="Cambria" pitchFamily="34" charset="-120"/>
              </a:rPr>
              <a:t>18/18</a:t>
            </a:r>
            <a:endParaRPr lang="en-US" sz="2800" dirty="0"/>
          </a:p>
        </p:txBody>
      </p:sp>
      <p:sp>
        <p:nvSpPr>
          <p:cNvPr id="15" name="Text 13"/>
          <p:cNvSpPr txBox="1"/>
          <p:nvPr/>
        </p:nvSpPr>
        <p:spPr>
          <a:xfrm>
            <a:off x="5097780" y="5376672"/>
            <a:ext cx="1394460" cy="411480"/>
          </a:xfrm>
          <a:prstGeom prst="rect">
            <a:avLst/>
          </a:prstGeom>
          <a:noFill/>
          <a:ln/>
        </p:spPr>
        <p:txBody>
          <a:bodyPr wrap="square" lIns="0" tIns="0" rIns="0" bIns="0" rtlCol="0" anchor="t"/>
          <a:lstStyle/>
          <a:p>
            <a:pPr indent="0" marL="0">
              <a:buNone/>
            </a:pPr>
            <a:r>
              <a:rPr lang="en-US" sz="1200" dirty="0">
                <a:solidFill>
                  <a:srgbClr val="56656D"/>
                </a:solidFill>
                <a:latin typeface="Calibri" pitchFamily="34" charset="0"/>
                <a:ea typeface="Calibri" pitchFamily="34" charset="-122"/>
                <a:cs typeface="Calibri" pitchFamily="34" charset="-120"/>
              </a:rPr>
              <a:t>clean-clone checks, Linux + Windows</a:t>
            </a:r>
            <a:endParaRPr lang="en-US" sz="1200" dirty="0"/>
          </a:p>
        </p:txBody>
      </p:sp>
      <p:sp>
        <p:nvSpPr>
          <p:cNvPr id="16" name="Text 14"/>
          <p:cNvSpPr txBox="1"/>
          <p:nvPr/>
        </p:nvSpPr>
        <p:spPr>
          <a:xfrm>
            <a:off x="502920" y="5833872"/>
            <a:ext cx="5989320" cy="502920"/>
          </a:xfrm>
          <a:prstGeom prst="rect">
            <a:avLst/>
          </a:prstGeom>
          <a:noFill/>
          <a:ln/>
        </p:spPr>
        <p:txBody>
          <a:bodyPr wrap="square" lIns="0" tIns="0" rIns="0" bIns="0" rtlCol="0" anchor="t"/>
          <a:lstStyle/>
          <a:p>
            <a:pPr indent="0" marL="0">
              <a:buNone/>
            </a:pPr>
            <a:r>
              <a:rPr lang="en-US" sz="1200" dirty="0">
                <a:solidFill>
                  <a:srgbClr val="14232B"/>
                </a:solidFill>
                <a:latin typeface="Calibri" pitchFamily="34" charset="0"/>
                <a:ea typeface="Calibri" pitchFamily="34" charset="-122"/>
                <a:cs typeface="Calibri" pitchFamily="34" charset="-120"/>
              </a:rPr>
              <a:t>GitHub Actions runs the same gates on every push. The pilot caught a 5 s client timeout overriding the scenario's 15 s; fixed, with a regression test, before the campaign.</a:t>
            </a:r>
            <a:endParaRPr lang="en-US" sz="1200" dirty="0"/>
          </a:p>
        </p:txBody>
      </p:sp>
      <p:pic>
        <p:nvPicPr>
          <p:cNvPr id="17" name="Image 0" descr="Dashboard timeline of one Experiment G run with fallback and breaker: all requests succeed during a 10 s hang; median latency spikes to about 1.3 s at fault onset, then returns to under 100 ms">    </p:cNvPr>
          <p:cNvPicPr>
            <a:picLocks noChangeAspect="1"/>
          </p:cNvPicPr>
          <p:nvPr/>
        </p:nvPicPr>
        <p:blipFill>
          <a:blip r:embed="rId1"/>
          <a:stretch>
            <a:fillRect/>
          </a:stretch>
        </p:blipFill>
        <p:spPr>
          <a:xfrm>
            <a:off x="6858000" y="1188720"/>
            <a:ext cx="4830775" cy="4136154"/>
          </a:xfrm>
          <a:prstGeom prst="rect">
            <a:avLst/>
          </a:prstGeom>
        </p:spPr>
      </p:pic>
      <p:sp>
        <p:nvSpPr>
          <p:cNvPr id="18" name="Text 15"/>
          <p:cNvSpPr txBox="1"/>
          <p:nvPr/>
        </p:nvSpPr>
        <p:spPr>
          <a:xfrm>
            <a:off x="6858000" y="5398026"/>
            <a:ext cx="4830775" cy="594360"/>
          </a:xfrm>
          <a:prstGeom prst="rect">
            <a:avLst/>
          </a:prstGeom>
          <a:noFill/>
          <a:ln/>
        </p:spPr>
        <p:txBody>
          <a:bodyPr wrap="square" lIns="0" tIns="0" rIns="0" bIns="0" rtlCol="0" anchor="t"/>
          <a:lstStyle/>
          <a:p>
            <a:pPr indent="0" marL="0">
              <a:buNone/>
            </a:pPr>
            <a:r>
              <a:rPr lang="en-US" sz="1100" dirty="0">
                <a:solidFill>
                  <a:srgbClr val="56656D"/>
                </a:solidFill>
                <a:latin typeface="Calibri" pitchFamily="34" charset="0"/>
                <a:ea typeface="Calibri" pitchFamily="34" charset="-122"/>
                <a:cs typeface="Calibri" pitchFamily="34" charset="-120"/>
              </a:rPr>
              <a:t>Genuine capture of the Windows records in the dashboard: one Experiment G run (fallback + breaker). The primary hangs for 10 s; every request still succeeds, and latency spikes only until the breaker opens.</a:t>
            </a:r>
            <a:endParaRPr lang="en-US" sz="11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6656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lIns="0" tIns="0" rIns="0" bIns="0" rtlCol="0" anchor="ctr"/>
          <a:lstStyle/>
          <a:p>
            <a:pPr indent="0" marL="0">
              <a:buNone/>
            </a:pPr>
            <a:r>
              <a:rPr lang="en-US" sz="3200" b="1" dirty="0">
                <a:solidFill>
                  <a:srgbClr val="0F2A36"/>
                </a:solidFill>
                <a:latin typeface="Cambria" pitchFamily="34" charset="0"/>
                <a:ea typeface="Cambria" pitchFamily="34" charset="-122"/>
                <a:cs typeface="Cambria" pitchFamily="34" charset="-120"/>
              </a:rPr>
              <a:t>All five hypotheses held here, each with a cost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7086600" cy="914400"/>
        </p:xfrm>
        <a:graphic>
          <a:graphicData uri="http://schemas.openxmlformats.org/drawingml/2006/table">
            <a:tbl>
              <a:tblPr/>
              <a:tblGrid>
                <a:gridCol w="457200"/>
                <a:gridCol w="2148840"/>
                <a:gridCol w="3429000"/>
                <a:gridCol w="1051560"/>
              </a:tblGrid>
              <a:tr h="310896">
                <a:tc>
                  <a:txBody>
                    <a:bodyPr/>
                    <a:lstStyle/>
                    <a:p>
                      <a:pPr indent="0" marL="0">
                        <a:buNone/>
                      </a:pP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solidFill>
                      <a:srgbClr val="0F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Hypothesis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solidFill>
                      <a:srgbClr val="0F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Measured on this machine (medians over runs)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solidFill>
                      <a:srgbClr val="0F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solidFill>
                      <a:srgbClr val="0F2A36"/>
                    </a:solidFill>
                  </a:tcPr>
                </a:tc>
              </a:tr>
              <a:tr h="676656">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H1</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Delay adds ≈ d on a sequential path; parallel calls hide it [1]</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Sequential +26.6 / 51.3 / 102.9 ms for d = 25 / 50 / 100 ms; parallel +6.0 / 8.0 / 56.7 ms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r h="786384">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H2</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Timeouts bound latency; breakers cut load and fail fast [13]</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Failed requests 10.0 s → 0.81 s with a timeout. Breaker: 78% fewer calls, fails in 17 ms, but recovery 1.0 s → 5.2 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Supported, slower recovery</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r h="676656">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H3</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Fallback to another environment raises success, at a latency cost</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Success 0.74 → 1.00 (+0.257 [0.251, 0.266]); p95 +749 ms; with a breaker p95 239–524 ms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r h="566928">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H4</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Placement helps only when it moves the critical path</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Moving pricing saves 31.3 ms [29.0, 34.3]; moving inventory 0.4 ms [−3.7, 2.6]</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r h="676656">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H5</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Retries reach 1 − p^(1+r) and multiply calls [1]</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Success 0.50 / 0.77 / 0.88 vs predicted 0.5 / 0.75 / 0.875; 1.00 / 1.48 / 1.75 calls per request</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r h="676656">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E</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Where this host saturates (exploratory)</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dirty="0">
                          <a:solidFill>
                            <a:srgbClr val="14232B"/>
                          </a:solidFill>
                          <a:latin typeface="Calibri" pitchFamily="34" charset="0"/>
                          <a:ea typeface="Calibri" pitchFamily="34" charset="-122"/>
                          <a:cs typeface="Calibri" pitchFamily="34" charset="-120"/>
                        </a:rPr>
                        <a:t>Gateway at its 0.5-CPU limit by 40 req/s (46.4–47.1% CPU); at 80 req/s goodput collapses to 0.5–9.2 req/s</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c>
                  <a:txBody>
                    <a:bodyPr/>
                    <a:lstStyle/>
                    <a:p>
                      <a:pPr indent="0" marL="0">
                        <a:buNone/>
                      </a:pPr>
                      <a:r>
                        <a:rPr lang="en-US" sz="1250" b="1" dirty="0">
                          <a:solidFill>
                            <a:srgbClr val="1279A0"/>
                          </a:solidFill>
                          <a:latin typeface="Calibri" pitchFamily="34" charset="0"/>
                          <a:ea typeface="Calibri" pitchFamily="34" charset="-122"/>
                          <a:cs typeface="Calibri" pitchFamily="34" charset="-120"/>
                        </a:rPr>
                        <a:t>Observed</a:t>
                      </a:r>
                      <a:endParaRPr lang="en-US" sz="1250" dirty="0">
                        <a:latin typeface="Calibri" charset="0"/>
                        <a:ea typeface="Calibri" charset="0"/>
                        <a:cs typeface="Calibri" charset="0"/>
                      </a:endParaRPr>
                    </a:p>
                  </a:txBody>
                  <a:tcPr marL="73152" marR="73152" marT="36576" marB="36576" anchor="ctr">
                    <a:lnL w="9525" cap="flat" cmpd="sng" algn="ctr">
                      <a:solidFill>
                        <a:srgbClr val="E1E7EA"/>
                      </a:solidFill>
                      <a:prstDash val="solid"/>
                      <a:round/>
                      <a:headEnd type="none" w="med" len="med"/>
                      <a:tailEnd type="none" w="med" len="med"/>
                    </a:lnL>
                    <a:lnR w="9525" cap="flat" cmpd="sng" algn="ctr">
                      <a:solidFill>
                        <a:srgbClr val="E1E7EA"/>
                      </a:solidFill>
                      <a:prstDash val="solid"/>
                      <a:round/>
                      <a:headEnd type="none" w="med" len="med"/>
                      <a:tailEnd type="none" w="med" len="med"/>
                    </a:lnR>
                    <a:lnT w="9525" cap="flat" cmpd="sng" algn="ctr">
                      <a:solidFill>
                        <a:srgbClr val="E1E7EA"/>
                      </a:solidFill>
                      <a:prstDash val="solid"/>
                      <a:round/>
                      <a:headEnd type="none" w="med" len="med"/>
                      <a:tailEnd type="none" w="med" len="med"/>
                    </a:lnT>
                    <a:lnB w="9525" cap="flat" cmpd="sng" algn="ctr">
                      <a:solidFill>
                        <a:srgbClr val="E1E7EA"/>
                      </a:solidFill>
                      <a:prstDash val="solid"/>
                      <a:round/>
                      <a:headEnd type="none" w="med" len="med"/>
                      <a:tailEnd type="none" w="med" len="med"/>
                    </a:lnB>
                  </a:tcPr>
                </a:tc>
              </a:tr>
            </a:tbl>
          </a:graphicData>
        </a:graphic>
      </p:graphicFrame>
      <p:sp>
        <p:nvSpPr>
          <p:cNvPr id="4" name="Text 1"/>
          <p:cNvSpPr txBox="1"/>
          <p:nvPr/>
        </p:nvSpPr>
        <p:spPr>
          <a:xfrm>
            <a:off x="502920" y="5833872"/>
            <a:ext cx="7086600" cy="502920"/>
          </a:xfrm>
          <a:prstGeom prst="rect">
            <a:avLst/>
          </a:prstGeom>
          <a:noFill/>
          <a:ln/>
        </p:spPr>
        <p:txBody>
          <a:bodyPr wrap="square" lIns="0" tIns="0" rIns="0" bIns="0" rtlCol="0" anchor="t"/>
          <a:lstStyle/>
          <a:p>
            <a:pPr indent="0" marL="0">
              <a:buNone/>
            </a:pPr>
            <a:r>
              <a:rPr lang="en-US" sz="1000" dirty="0">
                <a:solidFill>
                  <a:srgbClr val="56656D"/>
                </a:solidFill>
                <a:latin typeface="Calibri" pitchFamily="34" charset="0"/>
                <a:ea typeface="Calibri" pitchFamily="34" charset="-122"/>
                <a:cs typeface="Calibri" pitchFamily="34" charset="-120"/>
              </a:rPr>
              <a:t>* The injected errors are independent by construction, so H5 checks the retry logic, not real-world failure correlation. [a, b] = 95% bootstrap CI over runs; 3 runs per condition; local and simulated modes on one Windows PC.</a:t>
            </a:r>
            <a:endParaRPr lang="en-US" sz="1000" dirty="0"/>
          </a:p>
        </p:txBody>
      </p:sp>
      <p:graphicFrame>
        <p:nvGraphicFramePr>
          <p:cNvPr id="5" name="chart-H1" descr=""/>
          <p:cNvGraphicFramePr/>
          <p:nvPr/>
        </p:nvGraphicFramePr>
        <p:xfrm>
          <a:off x="7909560" y="1143000"/>
          <a:ext cx="3779215"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H2" descr=""/>
          <p:cNvGraphicFramePr/>
          <p:nvPr/>
        </p:nvGraphicFramePr>
        <p:xfrm>
          <a:off x="7909560" y="3703320"/>
          <a:ext cx="3779215" cy="21031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6656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5855"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transfers, what does not, what is next</a:t>
            </a:r>
            <a:endParaRPr lang="en-US" sz="3200" dirty="0"/>
          </a:p>
        </p:txBody>
      </p:sp>
      <p:sp>
        <p:nvSpPr>
          <p:cNvPr id="3" name="col-1"/>
          <p:cNvSpPr/>
          <p:nvPr/>
        </p:nvSpPr>
        <p:spPr>
          <a:xfrm>
            <a:off x="502920" y="1188720"/>
            <a:ext cx="3545738" cy="3017520"/>
          </a:xfrm>
          <a:prstGeom prst="roundRect">
            <a:avLst>
              <a:gd name="adj" fmla="val 2424"/>
            </a:avLst>
          </a:prstGeom>
          <a:solidFill>
            <a:srgbClr val="17394A"/>
          </a:solidFill>
          <a:ln w="12700">
            <a:solidFill>
              <a:srgbClr val="17394A"/>
            </a:solidFill>
            <a:prstDash val="solid"/>
          </a:ln>
        </p:spPr>
      </p:sp>
      <p:sp>
        <p:nvSpPr>
          <p:cNvPr id="4" name="Text 2"/>
          <p:cNvSpPr txBox="1"/>
          <p:nvPr/>
        </p:nvSpPr>
        <p:spPr>
          <a:xfrm>
            <a:off x="704088" y="1298448"/>
            <a:ext cx="3143402" cy="365760"/>
          </a:xfrm>
          <a:prstGeom prst="rect">
            <a:avLst/>
          </a:prstGeom>
          <a:noFill/>
          <a:ln/>
        </p:spPr>
        <p:txBody>
          <a:bodyPr wrap="square" lIns="0" tIns="0" rIns="0" bIns="0" rtlCol="0" anchor="t"/>
          <a:lstStyle/>
          <a:p>
            <a:pPr indent="0" marL="0">
              <a:buNone/>
            </a:pPr>
            <a:r>
              <a:rPr lang="en-US" sz="1800" b="1" dirty="0">
                <a:solidFill>
                  <a:srgbClr val="F2A262"/>
                </a:solidFill>
                <a:latin typeface="Cambria" pitchFamily="34" charset="0"/>
                <a:ea typeface="Cambria" pitchFamily="34" charset="-122"/>
                <a:cs typeface="Cambria" pitchFamily="34" charset="-120"/>
              </a:rPr>
              <a:t>What the lab shows</a:t>
            </a:r>
            <a:endParaRPr lang="en-US" sz="1800" dirty="0"/>
          </a:p>
        </p:txBody>
      </p:sp>
      <p:sp>
        <p:nvSpPr>
          <p:cNvPr id="5" name="Text 3"/>
          <p:cNvSpPr txBox="1"/>
          <p:nvPr/>
        </p:nvSpPr>
        <p:spPr>
          <a:xfrm>
            <a:off x="704088" y="1737360"/>
            <a:ext cx="3143402"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The critical path decides: delay and placement matter only where they sit on 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Each resilience policy trades something: errors for bounded latency, recovery time for less load, latency for success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Without admission control, overload collapses goodput instead of levelling it off</a:t>
            </a:r>
            <a:endParaRPr lang="en-US" sz="1400" dirty="0"/>
          </a:p>
        </p:txBody>
      </p:sp>
      <p:sp>
        <p:nvSpPr>
          <p:cNvPr id="6" name="col-2"/>
          <p:cNvSpPr/>
          <p:nvPr/>
        </p:nvSpPr>
        <p:spPr>
          <a:xfrm>
            <a:off x="4322978" y="1188720"/>
            <a:ext cx="3545738" cy="3017520"/>
          </a:xfrm>
          <a:prstGeom prst="roundRect">
            <a:avLst>
              <a:gd name="adj" fmla="val 2424"/>
            </a:avLst>
          </a:prstGeom>
          <a:solidFill>
            <a:srgbClr val="17394A"/>
          </a:solidFill>
          <a:ln w="12700">
            <a:solidFill>
              <a:srgbClr val="17394A"/>
            </a:solidFill>
            <a:prstDash val="solid"/>
          </a:ln>
        </p:spPr>
      </p:sp>
      <p:sp>
        <p:nvSpPr>
          <p:cNvPr id="7" name="Text 5"/>
          <p:cNvSpPr txBox="1"/>
          <p:nvPr/>
        </p:nvSpPr>
        <p:spPr>
          <a:xfrm>
            <a:off x="4524146" y="1298448"/>
            <a:ext cx="3143402" cy="365760"/>
          </a:xfrm>
          <a:prstGeom prst="rect">
            <a:avLst/>
          </a:prstGeom>
          <a:noFill/>
          <a:ln/>
        </p:spPr>
        <p:txBody>
          <a:bodyPr wrap="square" lIns="0" tIns="0" rIns="0" bIns="0" rtlCol="0" anchor="t"/>
          <a:lstStyle/>
          <a:p>
            <a:pPr indent="0" marL="0">
              <a:buNone/>
            </a:pPr>
            <a:r>
              <a:rPr lang="en-US" sz="1800" b="1" dirty="0">
                <a:solidFill>
                  <a:srgbClr val="F2A262"/>
                </a:solidFill>
                <a:latin typeface="Cambria" pitchFamily="34" charset="0"/>
                <a:ea typeface="Cambria" pitchFamily="34" charset="-122"/>
                <a:cs typeface="Cambria" pitchFamily="34" charset="-120"/>
              </a:rPr>
              <a:t>What it cannot show</a:t>
            </a:r>
            <a:endParaRPr lang="en-US" sz="1800" dirty="0"/>
          </a:p>
        </p:txBody>
      </p:sp>
      <p:sp>
        <p:nvSpPr>
          <p:cNvPr id="8" name="Text 6"/>
          <p:cNvSpPr txBox="1"/>
          <p:nvPr/>
        </p:nvSpPr>
        <p:spPr>
          <a:xfrm>
            <a:off x="4524146" y="1737360"/>
            <a:ext cx="3143402"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Provider numbers: one host, constant injected delay, application-level faults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Independent failure domains: both replicas share one kernel</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Fine tails: p99 is reportable only for the baseline; 3 runs per condition</a:t>
            </a:r>
            <a:endParaRPr lang="en-US" sz="1400" dirty="0"/>
          </a:p>
        </p:txBody>
      </p:sp>
      <p:sp>
        <p:nvSpPr>
          <p:cNvPr id="9" name="col-3"/>
          <p:cNvSpPr/>
          <p:nvPr/>
        </p:nvSpPr>
        <p:spPr>
          <a:xfrm>
            <a:off x="8143037" y="1188720"/>
            <a:ext cx="3545738" cy="3017520"/>
          </a:xfrm>
          <a:prstGeom prst="roundRect">
            <a:avLst>
              <a:gd name="adj" fmla="val 2424"/>
            </a:avLst>
          </a:prstGeom>
          <a:solidFill>
            <a:srgbClr val="17394A"/>
          </a:solidFill>
          <a:ln w="12700">
            <a:solidFill>
              <a:srgbClr val="17394A"/>
            </a:solidFill>
            <a:prstDash val="solid"/>
          </a:ln>
        </p:spPr>
      </p:sp>
      <p:sp>
        <p:nvSpPr>
          <p:cNvPr id="10" name="Text 8"/>
          <p:cNvSpPr txBox="1"/>
          <p:nvPr/>
        </p:nvSpPr>
        <p:spPr>
          <a:xfrm>
            <a:off x="8344205" y="1298448"/>
            <a:ext cx="3143402" cy="365760"/>
          </a:xfrm>
          <a:prstGeom prst="rect">
            <a:avLst/>
          </a:prstGeom>
          <a:noFill/>
          <a:ln/>
        </p:spPr>
        <p:txBody>
          <a:bodyPr wrap="square" lIns="0" tIns="0" rIns="0" bIns="0" rtlCol="0" anchor="t"/>
          <a:lstStyle/>
          <a:p>
            <a:pPr indent="0" marL="0">
              <a:buNone/>
            </a:pPr>
            <a:r>
              <a:rPr lang="en-US" sz="1800" b="1" dirty="0">
                <a:solidFill>
                  <a:srgbClr val="F2A262"/>
                </a:solidFill>
                <a:latin typeface="Cambria" pitchFamily="34" charset="0"/>
                <a:ea typeface="Cambria" pitchFamily="34" charset="-122"/>
                <a:cs typeface="Cambria" pitchFamily="34" charset="-120"/>
              </a:rPr>
              <a:t>Next</a:t>
            </a:r>
            <a:endParaRPr lang="en-US" sz="1800" dirty="0"/>
          </a:p>
        </p:txBody>
      </p:sp>
      <p:sp>
        <p:nvSpPr>
          <p:cNvPr id="11" name="Text 9"/>
          <p:cNvSpPr txBox="1"/>
          <p:nvPr/>
        </p:nvSpPr>
        <p:spPr>
          <a:xfrm>
            <a:off x="8344205" y="1737360"/>
            <a:ext cx="3143402"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Same scenarios on real providers (adapters target ECS Fargate, Azure Container Apps, Cloud Run)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Jitter and loss models, admission control, more runs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Code, data and CI (Apache-2.0; docs and results CC BY 4.0):</a:t>
            </a:r>
            <a:endParaRPr lang="en-US" sz="1400" dirty="0"/>
          </a:p>
          <a:p>
            <a:pPr indent="0" marL="0">
              <a:spcBef>
                <a:spcPts val="200"/>
              </a:spcBef>
              <a:buNone/>
            </a:pPr>
            <a:r>
              <a:rPr lang="en-US" sz="1400" b="1" dirty="0">
                <a:solidFill>
                  <a:srgbClr val="F2A262"/>
                </a:solidFill>
                <a:latin typeface="Calibri" pitchFamily="34" charset="0"/>
                <a:ea typeface="Calibri" pitchFamily="34" charset="-122"/>
                <a:cs typeface="Calibri" pitchFamily="34" charset="-120"/>
              </a:rPr>
              <a:t>github.com/Parv-01/setu-x</a:t>
            </a:r>
            <a:endParaRPr lang="en-US" sz="1400" dirty="0"/>
          </a:p>
        </p:txBody>
      </p:sp>
      <p:sp>
        <p:nvSpPr>
          <p:cNvPr id="12" name="Text 10"/>
          <p:cNvSpPr txBox="1"/>
          <p:nvPr/>
        </p:nvSpPr>
        <p:spPr>
          <a:xfrm>
            <a:off x="502920" y="4370832"/>
            <a:ext cx="11185855" cy="256032"/>
          </a:xfrm>
          <a:prstGeom prst="rect">
            <a:avLst/>
          </a:prstGeom>
          <a:noFill/>
          <a:ln/>
        </p:spPr>
        <p:txBody>
          <a:bodyPr wrap="square" lIns="0" tIns="0" rIns="0" bIns="0" rtlCol="0" anchor="t"/>
          <a:lstStyle/>
          <a:p>
            <a:pPr indent="0" marL="0">
              <a:buNone/>
            </a:pPr>
            <a:r>
              <a:rPr lang="en-US" sz="1200" b="1" dirty="0">
                <a:solidFill>
                  <a:srgbClr val="F2A262"/>
                </a:solidFill>
                <a:latin typeface="Calibri" pitchFamily="34" charset="0"/>
                <a:ea typeface="Calibri" pitchFamily="34" charset="-122"/>
                <a:cs typeface="Calibri" pitchFamily="34" charset="-120"/>
              </a:rPr>
              <a:t>References (full bibliography with DOIs: docs/references.bib)</a:t>
            </a:r>
            <a:endParaRPr lang="en-US" sz="1200" dirty="0"/>
          </a:p>
        </p:txBody>
      </p:sp>
      <p:sp>
        <p:nvSpPr>
          <p:cNvPr id="13" name="Text 11"/>
          <p:cNvSpPr txBox="1"/>
          <p:nvPr/>
        </p:nvSpPr>
        <p:spPr>
          <a:xfrm>
            <a:off x="502920" y="4663440"/>
            <a:ext cx="5455768" cy="1691640"/>
          </a:xfrm>
          <a:prstGeom prst="rect">
            <a:avLst/>
          </a:prstGeom>
          <a:noFill/>
          <a:ln/>
        </p:spPr>
        <p:txBody>
          <a:bodyPr wrap="square" lIns="0" tIns="0" rIns="0" bIns="0" rtlCol="0" anchor="t"/>
          <a:lstStyle/>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[1] J. Dean, L. A. Barroso. The tail at scale. CACM, 2013.</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[2] Y. Gan et al. An open-source benchmark suite for microservices… ASPLOS 2019.</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[3] S. Eismann et al. Microservices: a performance tester's dream or nightmare? ICPE 2020.</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[4] A. Brogi, S. Forti. QoS-aware deployment of IoT applications through the fog. IEEE IoT J., 2017.</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[5] M. Mota-Cruz et al. Optimizing microservices placement in the cloud-to-edge continuum. arXiv:2412.01412, 2024.</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[6] V. Heorhiadi et al. Gremlin: systematic resilience testing of microservices. ICDCS 2016.</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[7] C. S. Meiklejohn et al. Service-level fault injection testing. SoCC 2021.</a:t>
            </a:r>
            <a:endParaRPr lang="en-US" sz="1000" dirty="0"/>
          </a:p>
        </p:txBody>
      </p:sp>
      <p:sp>
        <p:nvSpPr>
          <p:cNvPr id="14" name="Text 12"/>
          <p:cNvSpPr txBox="1"/>
          <p:nvPr/>
        </p:nvSpPr>
        <p:spPr>
          <a:xfrm>
            <a:off x="6233008" y="4663440"/>
            <a:ext cx="5455768" cy="1691640"/>
          </a:xfrm>
          <a:prstGeom prst="rect">
            <a:avLst/>
          </a:prstGeom>
          <a:noFill/>
          <a:ln/>
        </p:spPr>
        <p:txBody>
          <a:bodyPr wrap="square" lIns="0" tIns="0" rIns="0" bIns="0" rtlCol="0" anchor="t"/>
          <a:lstStyle/>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[8] P. Leitner, J. Cito. Patterns in the chaos: performance variation in public IaaS clouds. ACM TOIT, 2016.</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[9] A. Uta et al. Is big data performance reproducible in modern cloud networks? NSDI 2020.</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[10] A. Jurgelionis et al. An empirical study of NetEm network emulation functionalities. ICCCN 2011.</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[11] A. V. Papadopoulos et al. Methodological principles for reproducible performance evaluation in cloud computing. IEEE TSE, 2021.</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[12] T. Hoefler, R. Belli. Scientific benchmarking of parallel computing systems. SC 2015.</a:t>
            </a:r>
            <a:endParaRPr lang="en-US" sz="1000" dirty="0"/>
          </a:p>
          <a:p>
            <a:pPr indent="0" marL="0">
              <a:spcAft>
                <a:spcPts val="200"/>
              </a:spcAft>
              <a:buNone/>
            </a:pPr>
            <a:r>
              <a:rPr lang="en-US" sz="1000" dirty="0">
                <a:solidFill>
                  <a:srgbClr val="D5E3E9"/>
                </a:solidFill>
                <a:latin typeface="Calibri" pitchFamily="34" charset="0"/>
                <a:ea typeface="Calibri" pitchFamily="34" charset="-122"/>
                <a:cs typeface="Calibri" pitchFamily="34" charset="-120"/>
              </a:rPr>
              <a:t>[13] F. Montesi, J. Weber. Circuit breakers, discovery, and API gateways in microservices. arXiv:1609.05830, 2016.</a:t>
            </a:r>
            <a:endParaRPr lang="en-US" sz="1000" dirty="0"/>
          </a:p>
        </p:txBody>
      </p:sp>
      <p:sp>
        <p:nvSpPr>
          <p:cNvPr id="25" name="Slide Number Placeholder 0"/>
          <p:cNvSpPr>
            <a:spLocks noGrp="1"/>
          </p:cNvSpPr>
          <p:nvPr>
            <p:ph type="sldNum" sz="quarter" idx="4294967295"/>
          </p:nvPr>
        </p:nvSpPr>
        <p:spPr>
          <a:xfrm>
            <a:off x="11231575"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D5E3E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SETU-X: delay, failures and resilience policies across (simulated) clouds</dc:title>
  <dc:subject>SETU-X final presentation (Phase 10)</dc:subject>
  <dc:creator>Parv Agarwal</dc:creator>
  <cp:lastModifiedBy>Parv Agarwal</cp:lastModifiedBy>
  <cp:revision>1</cp:revision>
  <dcterms:created xsi:type="dcterms:W3CDTF">2026-10-26T13:05:38Z</dcterms:created>
  <dcterms:modified xsi:type="dcterms:W3CDTF">2026-10-26T13:05:38Z</dcterms:modified>
</cp:coreProperties>
</file>